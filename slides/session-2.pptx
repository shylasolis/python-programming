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257" r:id="rId6"/>
    <p:sldId id="286" r:id="rId7"/>
    <p:sldId id="29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06" r:id="rId19"/>
    <p:sldId id="299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290" r:id="rId29"/>
    <p:sldId id="340" r:id="rId30"/>
    <p:sldId id="341" r:id="rId31"/>
    <p:sldId id="342" r:id="rId32"/>
    <p:sldId id="343" r:id="rId33"/>
    <p:sldId id="344" r:id="rId34"/>
    <p:sldId id="300" r:id="rId35"/>
    <p:sldId id="29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9" autoAdjust="0"/>
    <p:restoredTop sz="79346" autoAdjust="0"/>
  </p:normalViewPr>
  <p:slideViewPr>
    <p:cSldViewPr snapToGrid="0">
      <p:cViewPr varScale="1">
        <p:scale>
          <a:sx n="65" d="100"/>
          <a:sy n="65" d="100"/>
        </p:scale>
        <p:origin x="1176" y="53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code a literal value for a string, enclose the characters of the string in single or double quotation marks. This is called a string literal.</a:t>
            </a:r>
          </a:p>
          <a:p>
            <a:r>
              <a:rPr lang="en-US" dirty="0"/>
              <a:t>To code a literal value for a number, code the number without quotation marks. This is called a numeric literal.</a:t>
            </a:r>
          </a:p>
          <a:p>
            <a:endParaRPr lang="en-US" dirty="0"/>
          </a:p>
          <a:p>
            <a:r>
              <a:rPr lang="en-US" dirty="0"/>
              <a:t> A variable can change, or vary, as code executes. • A data type defines the type of data for a value. • An assignment statement uses the equals sign (=) to assign a value to a variable. The value can be a literal value, another variable, or an expression like the arithmetic expressions in the next figure.</a:t>
            </a:r>
          </a:p>
          <a:p>
            <a:r>
              <a:rPr lang="en-US" dirty="0"/>
              <a:t>• To initialize a variable, you assign an initial value to it. Then, you can assign different values later in the program.</a:t>
            </a:r>
          </a:p>
          <a:p>
            <a:r>
              <a:rPr lang="en-US" dirty="0"/>
              <a:t>• You can assign a value of any data type to a variable, even if that variable has previously been assigned a value of a different data type.</a:t>
            </a:r>
          </a:p>
          <a:p>
            <a:r>
              <a:rPr lang="en-US" dirty="0"/>
              <a:t>• Because variable names are case-sensitive, you must be sure to use the correct case when coding the names of variables.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51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631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FBD9-974F-CD7E-D816-3F59AEFD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8A6E4-1B5F-B43E-2B35-0CD46BE0E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7ABCD-6B33-11D2-D187-44FC1EFF3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93F93-8380-8778-A456-494815E00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11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E224-E346-2A1D-D4F3-FC74D746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64E1E-2613-BBD1-32D5-A872ED3B0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A3175-7895-C56F-D49A-EC53ECEF0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3211-E33D-DB69-EF40-390B7BE81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66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95BB-A358-34CA-69B9-5C822B19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3B091-9F09-3E0A-D520-3EE5AF05D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17DE0-CC1D-F2FC-4DB8-8FCD35DD2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EAF5A-A2AD-C91F-44E7-EE5ACC5BD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29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96BDC-284B-ABD2-BFAB-ED361B8B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890F1-A1F9-6B0F-9337-0E617B054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607FC-7457-F42E-5629-B43324A48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A715-F06F-AD03-8AC8-DD84211A3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37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1CF0E-74F9-1932-98D8-0915CA8B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97D67-6246-B463-2A92-F4D56C055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78FA6-769E-CB56-B582-73BFC97AA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871AF-04C4-478A-C1D2-274EFA66D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797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B7E0-3067-E367-C572-DAC76A5E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9E18A-DE70-A1B2-0778-6715841AC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D26A4-403E-1473-CE2A-243B90944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BF70-BE01-476E-C662-F1A899B50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921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1972-079C-40F5-F073-EEFEB093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2C191-334F-4C9C-C309-A9B22B857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48D6E-B1C6-3761-74C4-E40F5FF60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08528-758C-396E-A61E-E949CBBB6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81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2602-E0F3-D033-0A0D-A90D0904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5A337-68F8-E0EF-DB08-C23AF418F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44090-5BF0-BDF3-3A59-65BC4DDA8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4B8D1-97E2-7042-A768-9F6E2B371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593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0DB-3270-48FF-9389-3494EC13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0C8D1-D07F-C39A-972A-CCE9F1342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8080-36E8-C3EC-A909-585992B07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E6ABB-5D39-44D1-8EC4-52683AAD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136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95FC6-E6DD-EEC3-88AE-4674EF402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41E6C-EC7B-E84B-62D3-7A9B7B5D7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E9C31-8287-90D8-B3E2-EA700485A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8C4C0-BC3C-4433-A9E7-2BE6B5768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283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3496-8BEE-E008-1CD7-CD83696B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288D9-904A-42E3-666B-EB2EBF6E8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F4F8E-D373-0470-874F-34311B0CD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E8CBF-047B-8B9F-B7F2-E2084C1C9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2843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0BF30-B23B-B747-07C1-AA3F9952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37AFD-547B-D2E4-1FAF-CB59C1CDC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72071-82B5-E7B0-AE19-687A7FFD5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F0127-D1D4-9EF7-1032-FF1A404D4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892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E65C-F5CC-1944-E24A-2D22BDDB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2EE6A-D7E2-7947-BFDB-A6C7E8432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EB99F-4272-A638-8D8A-DB639826B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98F94-0AFE-4B0E-484C-2C0A080C6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983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B272-8217-AFA3-22D9-975618A3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7B3A9-8E7C-2422-D1A2-9FA76C37A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0D01E-0A7B-0446-39C2-FC373B383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FEC83-CEB4-6037-9FBD-59E17E715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3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1A55-F8CC-D3A7-F482-36780B73E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77505-ECC4-2D05-7674-E3DCEFCE2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688EF-1B2F-F5C9-AAF7-4D1830BBB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9C9D5-3BB2-CAF2-4D0D-48D8C72B9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528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B839-B497-0261-2D48-FC7DFC4B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73B75-B973-12D6-3B80-303FFD00F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CC75B-D2E7-1A7F-F0E7-CC8CE551E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706E7-303D-19EE-12F3-B25662C2C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77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7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Basic Coding Skills To Write Your First Program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br>
              <a:rPr lang="en-US" dirty="0"/>
            </a:br>
            <a:r>
              <a:rPr lang="en-US" dirty="0"/>
              <a:t>Basic coding skills (statements, comments, functions)</a:t>
            </a:r>
          </a:p>
          <a:p>
            <a:r>
              <a:rPr lang="en-US" dirty="0"/>
              <a:t>Work with data types and variables (assignment, naming)</a:t>
            </a:r>
          </a:p>
          <a:p>
            <a:r>
              <a:rPr lang="en-US" dirty="0"/>
              <a:t>Work with numeric data (arithmetic expressions (ae), ae in assignment statements, console for testing numeric operations) </a:t>
            </a:r>
          </a:p>
          <a:p>
            <a:r>
              <a:rPr lang="en-US" dirty="0"/>
              <a:t>Work string data (assign, join strings, include special characters in strings, use console for testing operations)</a:t>
            </a:r>
          </a:p>
          <a:p>
            <a:r>
              <a:rPr lang="en-US" dirty="0"/>
              <a:t>Python Functions (print(), input(), int(), float(), </a:t>
            </a:r>
            <a:r>
              <a:rPr lang="en-US" dirty="0" err="1"/>
              <a:t>etc</a:t>
            </a:r>
            <a:r>
              <a:rPr lang="en-US" dirty="0"/>
              <a:t> and chain functions)</a:t>
            </a:r>
          </a:p>
          <a:p>
            <a:r>
              <a:rPr lang="en-US" dirty="0"/>
              <a:t>Two illustrative programs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/>
          <a:lstStyle/>
          <a:p>
            <a:r>
              <a:rPr lang="en-US" dirty="0"/>
              <a:t>Basics</a:t>
            </a:r>
          </a:p>
        </p:txBody>
      </p:sp>
      <p:pic>
        <p:nvPicPr>
          <p:cNvPr id="10" name="Picture Placeholder 9" descr="A person holding books in a classroom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718343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316523"/>
            <a:ext cx="3626337" cy="539262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Comments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4462" y="996462"/>
            <a:ext cx="3626337" cy="5545015"/>
          </a:xfrm>
        </p:spPr>
        <p:txBody>
          <a:bodyPr>
            <a:normAutofit/>
          </a:bodyPr>
          <a:lstStyle/>
          <a:p>
            <a:r>
              <a:rPr lang="en-US" dirty="0"/>
              <a:t>Inline comments</a:t>
            </a:r>
          </a:p>
          <a:p>
            <a:r>
              <a:rPr lang="en-US" dirty="0"/>
              <a:t>Block comments</a:t>
            </a:r>
          </a:p>
          <a:p>
            <a:endParaRPr lang="en-US" dirty="0"/>
          </a:p>
          <a:p>
            <a:r>
              <a:rPr lang="en-US" b="1" dirty="0"/>
              <a:t>Guidelines for using comments </a:t>
            </a:r>
          </a:p>
          <a:p>
            <a:r>
              <a:rPr lang="en-US" dirty="0"/>
              <a:t>• describe portions of code that are hard to understand, but don’t overdo them.</a:t>
            </a:r>
          </a:p>
          <a:p>
            <a:r>
              <a:rPr lang="en-US" dirty="0"/>
              <a:t>• comment out (or disable) statements that you don’t want to test. </a:t>
            </a:r>
          </a:p>
          <a:p>
            <a:r>
              <a:rPr lang="en-US" dirty="0"/>
              <a:t>• If you change the code that’s described by comments, change the comments too.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C20A70-2969-A777-DAB7-D50B68C8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799" y="855785"/>
            <a:ext cx="6999333" cy="51226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0EE53-B9EA-DC71-32C6-20C5E9158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57" y="180219"/>
            <a:ext cx="9779182" cy="336681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Three basic python data types</a:t>
            </a:r>
          </a:p>
          <a:p>
            <a:pPr marL="514350" indent="-514350">
              <a:buAutoNum type="arabicPeriod"/>
            </a:pPr>
            <a:r>
              <a:rPr lang="en-US" dirty="0"/>
              <a:t>Code that initializes variables</a:t>
            </a:r>
          </a:p>
          <a:p>
            <a:pPr marL="514350" indent="-514350">
              <a:buAutoNum type="arabicPeriod"/>
            </a:pPr>
            <a:r>
              <a:rPr lang="en-US" dirty="0"/>
              <a:t>Code that assigns new values to the variables above</a:t>
            </a:r>
          </a:p>
          <a:p>
            <a:pPr marL="514350" indent="-514350">
              <a:buAutoNum type="arabicPeriod"/>
            </a:pPr>
            <a:r>
              <a:rPr lang="en-US" dirty="0"/>
              <a:t>Code that assigns values to two variables</a:t>
            </a:r>
          </a:p>
          <a:p>
            <a:pPr marL="514350" indent="-514350">
              <a:buAutoNum type="arabicPeriod"/>
            </a:pPr>
            <a:r>
              <a:rPr lang="en-US" dirty="0"/>
              <a:t>Code that causes an error because of incorrect case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45C83-B6BE-164A-8B4F-2926C0A6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57" y="2842189"/>
            <a:ext cx="6454699" cy="1371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A22FF0-CF55-F271-0D51-559D4DABD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57" y="4258002"/>
            <a:ext cx="6911485" cy="78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71B0D-8ADB-D5A6-CED9-29061D725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57" y="5091201"/>
            <a:ext cx="8719026" cy="10165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0D413A-9600-916E-A97F-D30DED037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5097" y="2842189"/>
            <a:ext cx="4701646" cy="405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65DAB9-E34A-C792-3D42-858316AFA8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5097" y="3376319"/>
            <a:ext cx="3216342" cy="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6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1E76-89F6-4913-EB21-8B624AA7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Initializing variables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0FF336-9A24-E23A-96CC-3D2274CBD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378" y="1371600"/>
            <a:ext cx="10441220" cy="1192107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44E6FD3-30CF-C1E8-4CC5-0E16E8741064}"/>
              </a:ext>
            </a:extLst>
          </p:cNvPr>
          <p:cNvSpPr/>
          <p:nvPr/>
        </p:nvSpPr>
        <p:spPr>
          <a:xfrm>
            <a:off x="3958381" y="2856784"/>
            <a:ext cx="6568943" cy="3223846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To code a literal value for a string, enclose the characters of the string in single or double quotation marks. This is called a </a:t>
            </a:r>
            <a:r>
              <a:rPr lang="en-US" b="1" i="1" u="sng" dirty="0"/>
              <a:t>string literal.</a:t>
            </a:r>
          </a:p>
          <a:p>
            <a:endParaRPr lang="en-US" dirty="0"/>
          </a:p>
          <a:p>
            <a:r>
              <a:rPr lang="en-US" dirty="0"/>
              <a:t>To code a literal value for a number, code the number without quotation marks. This is called a </a:t>
            </a:r>
            <a:r>
              <a:rPr lang="en-US" b="1" i="1" u="sng" dirty="0"/>
              <a:t>numeric literal.</a:t>
            </a:r>
          </a:p>
          <a:p>
            <a:endParaRPr lang="en-US" b="1" i="1" u="sng" dirty="0"/>
          </a:p>
          <a:p>
            <a:r>
              <a:rPr lang="en-US" dirty="0"/>
              <a:t>To initialize a variable, you assign an initial value to it. Then, you can assign different values later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345022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29527-935C-9FD6-1DC1-D763CC54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29B8-7DD3-DB8E-B69B-789C6D98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A variable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C0D9893D-287B-DB34-A6A9-D6DBEA3EBE11}"/>
              </a:ext>
            </a:extLst>
          </p:cNvPr>
          <p:cNvSpPr/>
          <p:nvPr/>
        </p:nvSpPr>
        <p:spPr>
          <a:xfrm>
            <a:off x="3290165" y="2942492"/>
            <a:ext cx="5806943" cy="2649416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A variable can change, or vary, as code executes. </a:t>
            </a:r>
          </a:p>
          <a:p>
            <a:endParaRPr lang="en-US" dirty="0"/>
          </a:p>
          <a:p>
            <a:r>
              <a:rPr lang="en-US" dirty="0"/>
              <a:t> An assignment statement uses the equals sign (=) to assign a value to a variable. The value can be:</a:t>
            </a:r>
          </a:p>
          <a:p>
            <a:pPr marL="285750" indent="-285750">
              <a:buFontTx/>
              <a:buChar char="-"/>
            </a:pPr>
            <a:r>
              <a:rPr lang="en-US" dirty="0"/>
              <a:t>a literal value</a:t>
            </a:r>
          </a:p>
          <a:p>
            <a:pPr marL="285750" indent="-285750">
              <a:buFontTx/>
              <a:buChar char="-"/>
            </a:pPr>
            <a:r>
              <a:rPr lang="en-US" dirty="0"/>
              <a:t>another variable, or </a:t>
            </a:r>
          </a:p>
          <a:p>
            <a:pPr marL="285750" indent="-285750">
              <a:buFontTx/>
              <a:buChar char="-"/>
            </a:pPr>
            <a:r>
              <a:rPr lang="en-US" dirty="0"/>
              <a:t>an expression like the arithmetic expressions.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0D71193-F5BB-5DF1-9915-29A0EDF6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78" y="1371600"/>
            <a:ext cx="10441220" cy="119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7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E145-C855-99D5-FE56-59B79202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A6E4-7125-1212-5F2F-EACA5255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Naming conventions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F7674-2DEA-80B7-6864-E2E4FE45B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83" y="1209308"/>
            <a:ext cx="9190215" cy="2344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7376ED-5294-1736-1909-611BA927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82" y="3619316"/>
            <a:ext cx="6002802" cy="1095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73B8DC-0337-2AAD-F7AD-38FA0FD5B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82" y="4780588"/>
            <a:ext cx="6710851" cy="195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0E91-0907-9924-3B00-4EFE96FE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0D18-8169-BE99-1FB9-8528CE16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Reserved are the Python Keywords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45741-E21A-38EB-3B78-FB196FA59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89" y="1569505"/>
            <a:ext cx="9207495" cy="438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4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692C-661D-660C-D1A4-3627BD62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CB7B-39A0-542E-379E-C61DAF95F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Work with Numeric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06E7A-633F-354D-F8C7-CD818CC4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8" y="1869183"/>
            <a:ext cx="11432629" cy="464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17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45D1C-FDFB-2934-3E9B-F567EBDF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A7B7-CAAB-6D26-5B03-2C03618C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b="0" dirty="0"/>
              <a:t>Yes, order matters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0F651-ED2A-0D27-2013-D5316663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99" y="1500786"/>
            <a:ext cx="8798616" cy="25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3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6D23-2E8A-C8CA-3ED3-DEBDF47E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E8BC-E6BE-E66A-C576-C09BE1E1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988"/>
            <a:ext cx="11289323" cy="941997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Use arithmetic expressions in assignment statements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854E2-CE45-EB77-DCDE-10CB2EB4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75" y="1582617"/>
            <a:ext cx="8908024" cy="144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9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0FB1-1BCD-0A54-1817-029017D4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951FA-ED20-2D67-6CFD-96A0FBEA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988"/>
            <a:ext cx="11289323" cy="941997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Use arithmetic expressions in assignment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6E3D3-AA1D-3759-ADFF-A1EF3F3E5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0" y="1300881"/>
            <a:ext cx="6849768" cy="518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51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CEA0-71F7-EACF-BE9A-7C1F925D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6F92-8F07-4E1C-E2FD-D58BD9E3A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719"/>
            <a:ext cx="11289323" cy="941997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344305-AE9D-C038-0A07-8FF39E61F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46" y="926124"/>
            <a:ext cx="5432615" cy="941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BA19EE-72FF-4F37-8722-93A062ADFD4F}"/>
              </a:ext>
            </a:extLst>
          </p:cNvPr>
          <p:cNvSpPr txBox="1"/>
          <p:nvPr/>
        </p:nvSpPr>
        <p:spPr>
          <a:xfrm>
            <a:off x="225869" y="2043967"/>
            <a:ext cx="113803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</a:t>
            </a:r>
            <a:r>
              <a:rPr lang="en-US" sz="2400" b="1" dirty="0"/>
              <a:t>A function </a:t>
            </a:r>
            <a:r>
              <a:rPr lang="en-US" sz="2400" dirty="0"/>
              <a:t>is a reusable unit of code that </a:t>
            </a:r>
            <a:r>
              <a:rPr lang="en-US" sz="2400" b="1" dirty="0"/>
              <a:t>performs a specific task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dirty="0"/>
              <a:t>• Python provides many </a:t>
            </a:r>
            <a:r>
              <a:rPr lang="en-US" sz="2400" b="1" dirty="0"/>
              <a:t>built-in functions</a:t>
            </a:r>
            <a:r>
              <a:rPr lang="en-US" sz="2400" dirty="0"/>
              <a:t> that </a:t>
            </a:r>
            <a:r>
              <a:rPr lang="en-US" sz="2400" b="1" dirty="0"/>
              <a:t>do common tasks</a:t>
            </a:r>
            <a:r>
              <a:rPr lang="en-US" sz="2400" dirty="0"/>
              <a:t> like getting input data from the user and printing output data to the console.</a:t>
            </a:r>
          </a:p>
          <a:p>
            <a:endParaRPr lang="en-US" sz="2400" dirty="0"/>
          </a:p>
          <a:p>
            <a:r>
              <a:rPr lang="en-US" sz="2400" dirty="0"/>
              <a:t>• When you </a:t>
            </a:r>
            <a:r>
              <a:rPr lang="en-US" sz="2400" b="1" i="1" u="sng" dirty="0"/>
              <a:t>call a function</a:t>
            </a:r>
            <a:r>
              <a:rPr lang="en-US" sz="2400" dirty="0"/>
              <a:t>, you code the name of the function followed by a pair of parentheses. Within the parentheses, you code any arguments that the function requires, and you separate multiple arguments with commas.</a:t>
            </a:r>
          </a:p>
          <a:p>
            <a:endParaRPr lang="en-US" sz="2400" dirty="0"/>
          </a:p>
          <a:p>
            <a:r>
              <a:rPr lang="en-US" sz="2400" dirty="0"/>
              <a:t>• In a syntax summary like the one at the top of this page, brackets [ ] mark the portions of code that are optional. And the italicized portions of the summary are the ones that you have to supply.</a:t>
            </a:r>
          </a:p>
        </p:txBody>
      </p:sp>
    </p:spTree>
    <p:extLst>
      <p:ext uri="{BB962C8B-B14F-4D97-AF65-F5344CB8AC3E}">
        <p14:creationId xmlns:p14="http://schemas.microsoft.com/office/powerpoint/2010/main" val="4018233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EA48-404C-7E5B-0624-BF72DC66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8054-370E-829D-5DD5-E6C19B78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Let’s work with strings</a:t>
            </a:r>
          </a:p>
        </p:txBody>
      </p:sp>
      <p:pic>
        <p:nvPicPr>
          <p:cNvPr id="9" name="Picture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E4A0E8E-9507-1D0C-7F0D-48EE9099BC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7213" r="272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39433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A226-F83A-3CCD-E0D5-401A1860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5C25E9-87DA-7F6F-EC67-7F3BB471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Strings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777267-A1FA-8A4C-806B-450595D9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9" y="2321139"/>
            <a:ext cx="10413893" cy="221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19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BECC7-9D56-6355-33A9-863F1392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1AC554-3880-0019-1B56-3D223BA8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Strings Cont’d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E466F-8A10-E9D4-3872-A52AACC3C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55" y="2230716"/>
            <a:ext cx="11072089" cy="28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277E-A428-6983-54AE-E6C5A689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E49942-8920-417A-FA1C-373381A7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Strings Cont’d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5A10E-ADBA-09FB-62BB-8F45FCC0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84" y="2121409"/>
            <a:ext cx="11294998" cy="305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96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F5BA-6A6F-B8B5-A608-E207FF1A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C6FD63-D7E2-9FA9-2443-B004BA1B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Use </a:t>
            </a:r>
            <a:r>
              <a:rPr lang="en-US" i="1" u="sng" dirty="0"/>
              <a:t>escape sequences</a:t>
            </a:r>
            <a:r>
              <a:rPr lang="en-US" dirty="0"/>
              <a:t> </a:t>
            </a:r>
            <a:r>
              <a:rPr lang="en-US" b="0" dirty="0"/>
              <a:t>to include </a:t>
            </a:r>
            <a:r>
              <a:rPr lang="en-US" i="1" dirty="0"/>
              <a:t>special characters</a:t>
            </a:r>
            <a:r>
              <a:rPr lang="en-US" b="0" i="1" dirty="0"/>
              <a:t> </a:t>
            </a:r>
            <a:r>
              <a:rPr lang="en-US" b="0" dirty="0"/>
              <a:t>in a string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350600-BA19-D1FD-F1D5-378FF3750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544" y="1913887"/>
            <a:ext cx="6823643" cy="316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80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E3D97-70E6-C561-B6A2-9FDC38C9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DE40FE-FA79-861F-05DC-E29DD6B9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CCCF7-C45C-DDC3-21AD-06909D1B7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26" y="2564944"/>
            <a:ext cx="9742348" cy="293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02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65DC-6EF9-1CF4-23B4-AC376A38E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D0185-CFAC-2CE2-6732-CD7C1E19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DCF090-5487-9503-3688-305FA4AA9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9" y="1997434"/>
            <a:ext cx="11560382" cy="34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41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9F408-AD78-C1AA-0BA7-751E4D2B8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2877D2-0322-46AA-7066-FF26C91D3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EB018-7E5F-CE67-A93F-E7C4C4D28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73" y="2162440"/>
            <a:ext cx="9525124" cy="25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08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B248-FB44-3864-91B6-A7F5E3E6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2834A7-320E-A449-2F55-761CED1F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C41EF-C850-A771-A61E-532557507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00" y="2294932"/>
            <a:ext cx="9897554" cy="194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8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E3ED-03F6-B425-2273-31DA811B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FC2277-00D2-E48E-DFC9-BEA92CF3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790701"/>
          </a:xfrm>
        </p:spPr>
        <p:txBody>
          <a:bodyPr/>
          <a:lstStyle/>
          <a:p>
            <a:r>
              <a:rPr lang="en-US" b="0" dirty="0"/>
              <a:t> Function called print()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0B91D-EFF1-57E7-BC36-E37EE4B9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977" y="1035555"/>
            <a:ext cx="7376046" cy="51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40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D8BB4D5B-4341-992C-CC13-E48133AF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Different ways the input() function can be used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A08AC1-56F5-F752-7AB0-60BB42400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947" y="953494"/>
            <a:ext cx="8174309" cy="5741713"/>
          </a:xfrm>
          <a:prstGeom prst="rect">
            <a:avLst/>
          </a:prstGeom>
        </p:spPr>
      </p:pic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5949CA65-0F82-87D7-114C-473C65F3B931}"/>
              </a:ext>
            </a:extLst>
          </p:cNvPr>
          <p:cNvSpPr/>
          <p:nvPr/>
        </p:nvSpPr>
        <p:spPr>
          <a:xfrm>
            <a:off x="8393723" y="2508738"/>
            <a:ext cx="3012831" cy="187569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The input() function always returns string data, even if the user enters a number.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12CC-A24E-39A0-4697-727398985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9891FA67-87A9-5003-5695-F0CAED11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BAE70F-0A59-F2A6-6F78-50D6D32A8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41" y="1699847"/>
            <a:ext cx="9496758" cy="31183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B5CD27-931E-017F-14C6-C387706ED319}"/>
              </a:ext>
            </a:extLst>
          </p:cNvPr>
          <p:cNvSpPr/>
          <p:nvPr/>
        </p:nvSpPr>
        <p:spPr>
          <a:xfrm>
            <a:off x="1348154" y="4419600"/>
            <a:ext cx="2649415" cy="433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51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2397-B543-68F8-F367-14E3D2E8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11FF5884-9239-5B1E-A3E5-6BF3F1E2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539AD-9EEA-FC5B-41F2-9F73943E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96" y="1890466"/>
            <a:ext cx="10843908" cy="21661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35EEE5-8C6E-2908-7C77-30F2DA5AC441}"/>
              </a:ext>
            </a:extLst>
          </p:cNvPr>
          <p:cNvSpPr/>
          <p:nvPr/>
        </p:nvSpPr>
        <p:spPr>
          <a:xfrm>
            <a:off x="2469818" y="3622899"/>
            <a:ext cx="5052646" cy="2663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24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96E8-3F34-C1F7-1A8C-7986024F4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148C242E-8CAA-F0BC-4226-2F2DFA50D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A1F4B1-AB31-33F9-89CA-18670771D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19" y="1390811"/>
            <a:ext cx="11525161" cy="22320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947D31-8FA3-01DF-27FF-985C67D27CB2}"/>
              </a:ext>
            </a:extLst>
          </p:cNvPr>
          <p:cNvSpPr/>
          <p:nvPr/>
        </p:nvSpPr>
        <p:spPr>
          <a:xfrm>
            <a:off x="2247078" y="3162651"/>
            <a:ext cx="5396367" cy="460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71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304D-5131-1C17-9CA2-499A9BC1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AE6DD8BE-39C8-3B13-7838-DCE537E0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0C45C-7555-2BBC-D5C4-FA44F285D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62" y="1739073"/>
            <a:ext cx="11214408" cy="260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0D5757-387F-83B2-660D-AE74FA9428B1}"/>
              </a:ext>
            </a:extLst>
          </p:cNvPr>
          <p:cNvSpPr/>
          <p:nvPr/>
        </p:nvSpPr>
        <p:spPr>
          <a:xfrm>
            <a:off x="1751440" y="3888053"/>
            <a:ext cx="5396367" cy="460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17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A0E4-DC5B-C47B-7A8E-3F421F6A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0CB7-0F8A-5D66-7047-66CD7448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Your turn!</a:t>
            </a:r>
          </a:p>
        </p:txBody>
      </p:sp>
      <p:pic>
        <p:nvPicPr>
          <p:cNvPr id="9" name="Picture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52FF527-F6A9-CADC-E5D5-DC7F6B39E1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7213" r="272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89152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E745-FA14-B112-F4CD-D1381E34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6F4D96C6-7343-DD25-1402-5412BF22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sz="3600" b="0" dirty="0"/>
              <a:t>Build a program: “Miles Per Gallon Program”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18F64-EFD0-3FE6-16E7-F05D1A96200C}"/>
              </a:ext>
            </a:extLst>
          </p:cNvPr>
          <p:cNvSpPr txBox="1">
            <a:spLocks/>
          </p:cNvSpPr>
          <p:nvPr/>
        </p:nvSpPr>
        <p:spPr>
          <a:xfrm>
            <a:off x="773723" y="1524001"/>
            <a:ext cx="10173677" cy="456565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Allow the user to enter two values: the number of miles that were driven and the gallons of gas that were used</a:t>
            </a:r>
          </a:p>
          <a:p>
            <a:r>
              <a:rPr lang="en-US" dirty="0"/>
              <a:t>The program should calculate and display the miles per gallon.</a:t>
            </a:r>
          </a:p>
          <a:p>
            <a:r>
              <a:rPr lang="en-US" dirty="0"/>
              <a:t>Force characters displayed to user to be boldfaced.</a:t>
            </a:r>
          </a:p>
          <a:p>
            <a:r>
              <a:rPr lang="en-US" dirty="0"/>
              <a:t>Display the title of the program to the user</a:t>
            </a:r>
          </a:p>
          <a:p>
            <a:r>
              <a:rPr lang="en-US" dirty="0"/>
              <a:t>When using the input function to allow the user to respond, include escape sequences for tab characters</a:t>
            </a:r>
          </a:p>
          <a:p>
            <a:r>
              <a:rPr lang="en-US" dirty="0"/>
              <a:t>Chain the input function with a float() function</a:t>
            </a:r>
          </a:p>
          <a:p>
            <a:r>
              <a:rPr lang="en-US" dirty="0"/>
              <a:t>Calculate the miles per gallon by dividing miles driven by gallons used. </a:t>
            </a:r>
          </a:p>
          <a:p>
            <a:r>
              <a:rPr lang="en-US" dirty="0"/>
              <a:t>Round the miles per gallon to two decimal places.</a:t>
            </a:r>
          </a:p>
          <a:p>
            <a:r>
              <a:rPr lang="en-US" dirty="0"/>
              <a:t>Be creative to display the result to the user (must use a total of 4 print() functions)</a:t>
            </a:r>
          </a:p>
          <a:p>
            <a:endParaRPr lang="en-US" dirty="0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3A0BABC-A357-976B-D073-544A88EA46C9}"/>
              </a:ext>
            </a:extLst>
          </p:cNvPr>
          <p:cNvSpPr/>
          <p:nvPr/>
        </p:nvSpPr>
        <p:spPr>
          <a:xfrm>
            <a:off x="9968523" y="1992923"/>
            <a:ext cx="1957754" cy="1172307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Don’t forget to test and debug!</a:t>
            </a:r>
          </a:p>
        </p:txBody>
      </p:sp>
    </p:spTree>
    <p:extLst>
      <p:ext uri="{BB962C8B-B14F-4D97-AF65-F5344CB8AC3E}">
        <p14:creationId xmlns:p14="http://schemas.microsoft.com/office/powerpoint/2010/main" val="4233897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/>
              <a:t>Shyla Solis</a:t>
            </a:r>
          </a:p>
          <a:p>
            <a:r>
              <a:rPr lang="en-US" dirty="0"/>
              <a:t>209-9862918</a:t>
            </a:r>
          </a:p>
          <a:p>
            <a:r>
              <a:rPr lang="en-US" dirty="0"/>
              <a:t>ssolis1@pacific.edu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{7551F8D0-EAB4-49E6-8CDE-5EA20647E434}tf45331398_win32</Template>
  <TotalTime>3409</TotalTime>
  <Words>938</Words>
  <Application>Microsoft Office PowerPoint</Application>
  <PresentationFormat>Widescreen</PresentationFormat>
  <Paragraphs>112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Tenorite</vt:lpstr>
      <vt:lpstr>Custom</vt:lpstr>
      <vt:lpstr>Basic Coding Skills To Write Your First Program</vt:lpstr>
      <vt:lpstr>Agenda</vt:lpstr>
      <vt:lpstr>Basics</vt:lpstr>
      <vt:lpstr>Comments</vt:lpstr>
      <vt:lpstr>PowerPoint Presentation</vt:lpstr>
      <vt:lpstr>Initializing variables</vt:lpstr>
      <vt:lpstr>A variable</vt:lpstr>
      <vt:lpstr>Naming conventions</vt:lpstr>
      <vt:lpstr>Reserved are the Python Keywords</vt:lpstr>
      <vt:lpstr>Work with Numeric Data</vt:lpstr>
      <vt:lpstr>Yes, order matters</vt:lpstr>
      <vt:lpstr> Use arithmetic expressions in assignment statements</vt:lpstr>
      <vt:lpstr> Use arithmetic expressions in assignment statements</vt:lpstr>
      <vt:lpstr> Functions</vt:lpstr>
      <vt:lpstr>Let’s work with strings</vt:lpstr>
      <vt:lpstr>Join Strings</vt:lpstr>
      <vt:lpstr>Join Strings Cont’d</vt:lpstr>
      <vt:lpstr>Join Strings Cont’d</vt:lpstr>
      <vt:lpstr> Use escape sequences to include special characters in a string</vt:lpstr>
      <vt:lpstr> Example:</vt:lpstr>
      <vt:lpstr> Example:</vt:lpstr>
      <vt:lpstr> Example:</vt:lpstr>
      <vt:lpstr> Example:</vt:lpstr>
      <vt:lpstr> Function called print()</vt:lpstr>
      <vt:lpstr> Different ways the input() function can be used</vt:lpstr>
      <vt:lpstr> Three functions for working with numbers</vt:lpstr>
      <vt:lpstr> Three functions for working with numbers</vt:lpstr>
      <vt:lpstr> Three functions for working with numbers</vt:lpstr>
      <vt:lpstr> Three functions for working with numbers</vt:lpstr>
      <vt:lpstr>Your turn!</vt:lpstr>
      <vt:lpstr>Build a program: “Miles Per Gallon Program”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Shyla Solis</dc:creator>
  <cp:lastModifiedBy>Shyla Solis</cp:lastModifiedBy>
  <cp:revision>7</cp:revision>
  <dcterms:created xsi:type="dcterms:W3CDTF">2025-05-26T17:40:46Z</dcterms:created>
  <dcterms:modified xsi:type="dcterms:W3CDTF">2025-05-29T02:30:26Z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