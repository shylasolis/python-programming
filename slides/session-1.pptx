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9"/>
  </p:notesMasterIdLst>
  <p:handoutMasterIdLst>
    <p:handoutMasterId r:id="rId40"/>
  </p:handoutMasterIdLst>
  <p:sldIdLst>
    <p:sldId id="256" r:id="rId5"/>
    <p:sldId id="289" r:id="rId6"/>
    <p:sldId id="257" r:id="rId7"/>
    <p:sldId id="286" r:id="rId8"/>
    <p:sldId id="291" r:id="rId9"/>
    <p:sldId id="306" r:id="rId10"/>
    <p:sldId id="299" r:id="rId11"/>
    <p:sldId id="290" r:id="rId12"/>
    <p:sldId id="300" r:id="rId13"/>
    <p:sldId id="301" r:id="rId14"/>
    <p:sldId id="302" r:id="rId15"/>
    <p:sldId id="303" r:id="rId16"/>
    <p:sldId id="304" r:id="rId17"/>
    <p:sldId id="305" r:id="rId18"/>
    <p:sldId id="297" r:id="rId19"/>
    <p:sldId id="292" r:id="rId20"/>
    <p:sldId id="295" r:id="rId21"/>
    <p:sldId id="307" r:id="rId22"/>
    <p:sldId id="308" r:id="rId23"/>
    <p:sldId id="309" r:id="rId24"/>
    <p:sldId id="310" r:id="rId25"/>
    <p:sldId id="311" r:id="rId26"/>
    <p:sldId id="294" r:id="rId27"/>
    <p:sldId id="313" r:id="rId28"/>
    <p:sldId id="314" r:id="rId29"/>
    <p:sldId id="315" r:id="rId30"/>
    <p:sldId id="316" r:id="rId31"/>
    <p:sldId id="317" r:id="rId32"/>
    <p:sldId id="318" r:id="rId33"/>
    <p:sldId id="319" r:id="rId34"/>
    <p:sldId id="320" r:id="rId35"/>
    <p:sldId id="312" r:id="rId36"/>
    <p:sldId id="321" r:id="rId37"/>
    <p:sldId id="296"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9" autoAdjust="0"/>
    <p:restoredTop sz="79346" autoAdjust="0"/>
  </p:normalViewPr>
  <p:slideViewPr>
    <p:cSldViewPr snapToGrid="0">
      <p:cViewPr varScale="1">
        <p:scale>
          <a:sx n="65" d="100"/>
          <a:sy n="65" d="100"/>
        </p:scale>
        <p:origin x="1176" y="53"/>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5/26/2025</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5/26/2025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964844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CFBD9-974F-CD7E-D816-3F59AEFDF1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8A6E4-1B5F-B43E-2B35-0CD46BE0E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57ABCD-6B33-11D2-D187-44FC1EFF37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B93F93-8380-8778-A456-494815E008B7}"/>
              </a:ext>
            </a:extLst>
          </p:cNvPr>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2242811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8E224-E346-2A1D-D4F3-FC74D74638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464E1E-2613-BBD1-32D5-A872ED3B0F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BA3175-7895-C56F-D49A-EC53ECEF0B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B33211-E33D-DB69-EF40-390B7BE814B6}"/>
              </a:ext>
            </a:extLst>
          </p:cNvPr>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3539366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CB839-B497-0261-2D48-FC7DFC4BB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73B75-B973-12D6-3B80-303FFD00F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FCC75B-D2E7-1A7F-F0E7-CC8CE551E2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1706E7-303D-19EE-12F3-B25662C2CB0E}"/>
              </a:ext>
            </a:extLst>
          </p:cNvPr>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2636877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8CEC8-9B77-8915-86AE-A5BDDEF0F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C2D54-154A-89FB-C152-39B3EFBEB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C1222C-99C7-3B82-024A-1FD6CE9530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B44019-875C-25BA-1C71-2978FBA9394E}"/>
              </a:ext>
            </a:extLst>
          </p:cNvPr>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2043661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EEE61-07E0-31E7-C8AD-6DB4EE19F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19646-7963-CDBD-EF4F-D9A08F5A9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C8231-46D5-2593-DB4B-C99AA497E7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B3C281-A0D2-8158-9528-762BFDF83652}"/>
              </a:ext>
            </a:extLst>
          </p:cNvPr>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546701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1942B-5187-EC7E-85BB-3448AF3DC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84DAF-C440-DFA8-A219-D0B1EE2408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165601-609C-9C10-28F5-6D28319F6B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B5FA74-BD07-6880-EF0E-CF987CE0EEBB}"/>
              </a:ext>
            </a:extLst>
          </p:cNvPr>
          <p:cNvSpPr>
            <a:spLocks noGrp="1"/>
          </p:cNvSpPr>
          <p:nvPr>
            <p:ph type="sldNum" sz="quarter" idx="5"/>
          </p:nvPr>
        </p:nvSpPr>
        <p:spPr/>
        <p:txBody>
          <a:bodyPr/>
          <a:lstStyle/>
          <a:p>
            <a:fld id="{F97DC217-DF71-1A49-B3EA-559F1F43B0FF}" type="slidenum">
              <a:rPr lang="en-US" smtClean="0"/>
              <a:t>12</a:t>
            </a:fld>
            <a:endParaRPr lang="en-US" dirty="0"/>
          </a:p>
        </p:txBody>
      </p:sp>
    </p:spTree>
    <p:extLst>
      <p:ext uri="{BB962C8B-B14F-4D97-AF65-F5344CB8AC3E}">
        <p14:creationId xmlns:p14="http://schemas.microsoft.com/office/powerpoint/2010/main" val="1299826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0C45A-328D-3400-CF9B-1B675BC30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ABD91-2765-DFE1-D0D1-873DB8CC18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13F614-1A7D-76BD-5CA8-8B53A4E205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CE10AD-AE04-E970-3AD3-5DC89219BE8B}"/>
              </a:ext>
            </a:extLst>
          </p:cNvPr>
          <p:cNvSpPr>
            <a:spLocks noGrp="1"/>
          </p:cNvSpPr>
          <p:nvPr>
            <p:ph type="sldNum" sz="quarter" idx="5"/>
          </p:nvPr>
        </p:nvSpPr>
        <p:spPr/>
        <p:txBody>
          <a:bodyPr/>
          <a:lstStyle/>
          <a:p>
            <a:fld id="{F97DC217-DF71-1A49-B3EA-559F1F43B0FF}" type="slidenum">
              <a:rPr lang="en-US" smtClean="0"/>
              <a:t>13</a:t>
            </a:fld>
            <a:endParaRPr lang="en-US" dirty="0"/>
          </a:p>
        </p:txBody>
      </p:sp>
    </p:spTree>
    <p:extLst>
      <p:ext uri="{BB962C8B-B14F-4D97-AF65-F5344CB8AC3E}">
        <p14:creationId xmlns:p14="http://schemas.microsoft.com/office/powerpoint/2010/main" val="3906019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DCB54-A843-A144-35D8-FABE2DF10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5DA40-792C-74BE-FF40-FFBC5EB7AF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74306D-60CB-CAAF-C898-02BDE7A548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C0A644-41F7-5442-0A32-9DC62DC45300}"/>
              </a:ext>
            </a:extLst>
          </p:cNvPr>
          <p:cNvSpPr>
            <a:spLocks noGrp="1"/>
          </p:cNvSpPr>
          <p:nvPr>
            <p:ph type="sldNum" sz="quarter" idx="5"/>
          </p:nvPr>
        </p:nvSpPr>
        <p:spPr/>
        <p:txBody>
          <a:bodyPr/>
          <a:lstStyle/>
          <a:p>
            <a:fld id="{F97DC217-DF71-1A49-B3EA-559F1F43B0FF}" type="slidenum">
              <a:rPr lang="en-US" smtClean="0"/>
              <a:t>14</a:t>
            </a:fld>
            <a:endParaRPr lang="en-US" dirty="0"/>
          </a:p>
        </p:txBody>
      </p:sp>
    </p:spTree>
    <p:extLst>
      <p:ext uri="{BB962C8B-B14F-4D97-AF65-F5344CB8AC3E}">
        <p14:creationId xmlns:p14="http://schemas.microsoft.com/office/powerpoint/2010/main" val="4263916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15</a:t>
            </a:fld>
            <a:endParaRPr lang="en-US" dirty="0"/>
          </a:p>
        </p:txBody>
      </p:sp>
    </p:spTree>
    <p:extLst>
      <p:ext uri="{BB962C8B-B14F-4D97-AF65-F5344CB8AC3E}">
        <p14:creationId xmlns:p14="http://schemas.microsoft.com/office/powerpoint/2010/main" val="1425159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16</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17</a:t>
            </a:fld>
            <a:endParaRPr lang="en-US" dirty="0"/>
          </a:p>
        </p:txBody>
      </p:sp>
    </p:spTree>
    <p:extLst>
      <p:ext uri="{BB962C8B-B14F-4D97-AF65-F5344CB8AC3E}">
        <p14:creationId xmlns:p14="http://schemas.microsoft.com/office/powerpoint/2010/main" val="2474778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DBC38-D226-0820-F1F2-8075FCB08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6F051-2CE6-1FFE-32C6-1DBFCEBD4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BB93F-FF09-8AA3-BF32-93A86EF05B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CE3220-01DE-5DA5-B61C-57ABE0723030}"/>
              </a:ext>
            </a:extLst>
          </p:cNvPr>
          <p:cNvSpPr>
            <a:spLocks noGrp="1"/>
          </p:cNvSpPr>
          <p:nvPr>
            <p:ph type="sldNum" sz="quarter" idx="5"/>
          </p:nvPr>
        </p:nvSpPr>
        <p:spPr/>
        <p:txBody>
          <a:bodyPr/>
          <a:lstStyle/>
          <a:p>
            <a:fld id="{F97DC217-DF71-1A49-B3EA-559F1F43B0FF}" type="slidenum">
              <a:rPr lang="en-US" smtClean="0"/>
              <a:t>18</a:t>
            </a:fld>
            <a:endParaRPr lang="en-US" dirty="0"/>
          </a:p>
        </p:txBody>
      </p:sp>
    </p:spTree>
    <p:extLst>
      <p:ext uri="{BB962C8B-B14F-4D97-AF65-F5344CB8AC3E}">
        <p14:creationId xmlns:p14="http://schemas.microsoft.com/office/powerpoint/2010/main" val="17507736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8C6F9-B93E-67F6-3FAE-B6AD10934C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F297E-C322-3349-F8A2-3806AD496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27119-526C-F173-A61D-90CFEB1A8D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BD2F1E-36CA-AFAB-6743-598B3B10A2CD}"/>
              </a:ext>
            </a:extLst>
          </p:cNvPr>
          <p:cNvSpPr>
            <a:spLocks noGrp="1"/>
          </p:cNvSpPr>
          <p:nvPr>
            <p:ph type="sldNum" sz="quarter" idx="5"/>
          </p:nvPr>
        </p:nvSpPr>
        <p:spPr/>
        <p:txBody>
          <a:bodyPr/>
          <a:lstStyle/>
          <a:p>
            <a:fld id="{F97DC217-DF71-1A49-B3EA-559F1F43B0FF}" type="slidenum">
              <a:rPr lang="en-US" smtClean="0"/>
              <a:t>19</a:t>
            </a:fld>
            <a:endParaRPr lang="en-US" dirty="0"/>
          </a:p>
        </p:txBody>
      </p:sp>
    </p:spTree>
    <p:extLst>
      <p:ext uri="{BB962C8B-B14F-4D97-AF65-F5344CB8AC3E}">
        <p14:creationId xmlns:p14="http://schemas.microsoft.com/office/powerpoint/2010/main" val="40213989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859E8-BB55-0DE9-0A9B-83BF402A22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255C3-E5A3-1833-71D7-7894CA44F0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53E1B5-346F-9CB7-FF50-A77EACD860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631E11-EAC7-707E-DB31-6340B65B9105}"/>
              </a:ext>
            </a:extLst>
          </p:cNvPr>
          <p:cNvSpPr>
            <a:spLocks noGrp="1"/>
          </p:cNvSpPr>
          <p:nvPr>
            <p:ph type="sldNum" sz="quarter" idx="5"/>
          </p:nvPr>
        </p:nvSpPr>
        <p:spPr/>
        <p:txBody>
          <a:bodyPr/>
          <a:lstStyle/>
          <a:p>
            <a:fld id="{F97DC217-DF71-1A49-B3EA-559F1F43B0FF}" type="slidenum">
              <a:rPr lang="en-US" smtClean="0"/>
              <a:t>20</a:t>
            </a:fld>
            <a:endParaRPr lang="en-US" dirty="0"/>
          </a:p>
        </p:txBody>
      </p:sp>
    </p:spTree>
    <p:extLst>
      <p:ext uri="{BB962C8B-B14F-4D97-AF65-F5344CB8AC3E}">
        <p14:creationId xmlns:p14="http://schemas.microsoft.com/office/powerpoint/2010/main" val="19907540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4A6F7-18C8-1E21-52B1-B4908D102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15891F-FB6B-59A2-4F4E-131E4F8079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4230B7-8625-3200-1FE8-6BD148E729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ED1794-49D4-2EE3-A86E-DB820B825C18}"/>
              </a:ext>
            </a:extLst>
          </p:cNvPr>
          <p:cNvSpPr>
            <a:spLocks noGrp="1"/>
          </p:cNvSpPr>
          <p:nvPr>
            <p:ph type="sldNum" sz="quarter" idx="5"/>
          </p:nvPr>
        </p:nvSpPr>
        <p:spPr/>
        <p:txBody>
          <a:bodyPr/>
          <a:lstStyle/>
          <a:p>
            <a:fld id="{F97DC217-DF71-1A49-B3EA-559F1F43B0FF}" type="slidenum">
              <a:rPr lang="en-US" smtClean="0"/>
              <a:t>21</a:t>
            </a:fld>
            <a:endParaRPr lang="en-US" dirty="0"/>
          </a:p>
        </p:txBody>
      </p:sp>
    </p:spTree>
    <p:extLst>
      <p:ext uri="{BB962C8B-B14F-4D97-AF65-F5344CB8AC3E}">
        <p14:creationId xmlns:p14="http://schemas.microsoft.com/office/powerpoint/2010/main" val="20094251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ED183-CB83-2932-FD39-FD0B96928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71470-C523-00FE-CD83-06BD9B822D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34C5D1-D267-6955-A2E0-3D04F712E575}"/>
              </a:ext>
            </a:extLst>
          </p:cNvPr>
          <p:cNvSpPr>
            <a:spLocks noGrp="1"/>
          </p:cNvSpPr>
          <p:nvPr>
            <p:ph type="body" idx="1"/>
          </p:nvPr>
        </p:nvSpPr>
        <p:spPr/>
        <p:txBody>
          <a:bodyPr/>
          <a:lstStyle/>
          <a:p>
            <a:r>
              <a:rPr lang="en-US" dirty="0"/>
              <a:t>The first example shows the dialog box that’s displayed when a syntax error is detected. In addition, the point at which the error was detected is highlighted in the source code. Keep in mind, though, that the error may not be exactly at that point. In fact, it is likely to be in the previous statement. In this example, the error occurs because the statement before the highlighted statement should end with another right parenthesis. </a:t>
            </a:r>
          </a:p>
          <a:p>
            <a:r>
              <a:rPr lang="en-US" dirty="0"/>
              <a:t>When an exception occurs, the program ends, or “crashes,” unless the</a:t>
            </a:r>
          </a:p>
          <a:p>
            <a:r>
              <a:rPr lang="en-US" dirty="0"/>
              <a:t>exceptions are handled by the program. You’ll learn how to handle the exceptions that occur so your programs won’t crash if we have time. However, you can often prevent exceptions from occurring in the first place by fixing the code that caused the exception. (Chapter 8) </a:t>
            </a:r>
          </a:p>
        </p:txBody>
      </p:sp>
      <p:sp>
        <p:nvSpPr>
          <p:cNvPr id="4" name="Slide Number Placeholder 3">
            <a:extLst>
              <a:ext uri="{FF2B5EF4-FFF2-40B4-BE49-F238E27FC236}">
                <a16:creationId xmlns:a16="http://schemas.microsoft.com/office/drawing/2014/main" id="{71B86707-D027-7C7F-C25B-73B0199076F2}"/>
              </a:ext>
            </a:extLst>
          </p:cNvPr>
          <p:cNvSpPr>
            <a:spLocks noGrp="1"/>
          </p:cNvSpPr>
          <p:nvPr>
            <p:ph type="sldNum" sz="quarter" idx="5"/>
          </p:nvPr>
        </p:nvSpPr>
        <p:spPr/>
        <p:txBody>
          <a:bodyPr/>
          <a:lstStyle/>
          <a:p>
            <a:fld id="{F97DC217-DF71-1A49-B3EA-559F1F43B0FF}" type="slidenum">
              <a:rPr lang="en-US" smtClean="0"/>
              <a:t>22</a:t>
            </a:fld>
            <a:endParaRPr lang="en-US" dirty="0"/>
          </a:p>
        </p:txBody>
      </p:sp>
    </p:spTree>
    <p:extLst>
      <p:ext uri="{BB962C8B-B14F-4D97-AF65-F5344CB8AC3E}">
        <p14:creationId xmlns:p14="http://schemas.microsoft.com/office/powerpoint/2010/main" val="5910265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23</a:t>
            </a:fld>
            <a:endParaRPr lang="en-US" dirty="0"/>
          </a:p>
        </p:txBody>
      </p:sp>
    </p:spTree>
    <p:extLst>
      <p:ext uri="{BB962C8B-B14F-4D97-AF65-F5344CB8AC3E}">
        <p14:creationId xmlns:p14="http://schemas.microsoft.com/office/powerpoint/2010/main" val="33190867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a:t>
            </a:r>
          </a:p>
          <a:p>
            <a:pPr marL="228600" indent="-228600">
              <a:buAutoNum type="arabicParenBoth"/>
            </a:pPr>
            <a:r>
              <a:rPr lang="en-US" dirty="0"/>
              <a:t>the print() function prints a blank line if you don’t code anything between the parentheses, </a:t>
            </a:r>
          </a:p>
          <a:p>
            <a:pPr marL="228600" indent="-228600">
              <a:buAutoNum type="arabicParenBoth"/>
            </a:pPr>
            <a:r>
              <a:rPr lang="en-US" dirty="0"/>
              <a:t>the * is used for multiplication in an arithmetic expression, </a:t>
            </a:r>
          </a:p>
          <a:p>
            <a:pPr marL="228600" indent="-228600">
              <a:buAutoNum type="arabicParenBoth"/>
            </a:pPr>
            <a:r>
              <a:rPr lang="en-US" dirty="0"/>
              <a:t>the spaces before and after arithmetic operators aren’t required, and </a:t>
            </a:r>
          </a:p>
          <a:p>
            <a:pPr marL="228600" indent="-228600">
              <a:buAutoNum type="arabicParenBoth"/>
            </a:pPr>
            <a:r>
              <a:rPr lang="en-US" dirty="0"/>
              <a:t>parentheses are used just as they are in algebraic expressions. If you make entry errors, the shell should display appropriate error message</a:t>
            </a:r>
          </a:p>
        </p:txBody>
      </p:sp>
      <p:sp>
        <p:nvSpPr>
          <p:cNvPr id="4" name="Slide Number Placeholder 3"/>
          <p:cNvSpPr>
            <a:spLocks noGrp="1"/>
          </p:cNvSpPr>
          <p:nvPr>
            <p:ph type="sldNum" sz="quarter" idx="5"/>
          </p:nvPr>
        </p:nvSpPr>
        <p:spPr/>
        <p:txBody>
          <a:bodyPr/>
          <a:lstStyle/>
          <a:p>
            <a:fld id="{F97DC217-DF71-1A49-B3EA-559F1F43B0FF}" type="slidenum">
              <a:rPr lang="en-US" smtClean="0"/>
              <a:t>25</a:t>
            </a:fld>
            <a:endParaRPr lang="en-US" dirty="0"/>
          </a:p>
        </p:txBody>
      </p:sp>
    </p:spTree>
    <p:extLst>
      <p:ext uri="{BB962C8B-B14F-4D97-AF65-F5344CB8AC3E}">
        <p14:creationId xmlns:p14="http://schemas.microsoft.com/office/powerpoint/2010/main" val="11957126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E21A1-E5EC-0DFB-67B9-890F166D5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65590-A26A-69C4-DC33-753B01007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1B3AE-F3AE-08E6-DF63-520D6BC18151}"/>
              </a:ext>
            </a:extLst>
          </p:cNvPr>
          <p:cNvSpPr>
            <a:spLocks noGrp="1"/>
          </p:cNvSpPr>
          <p:nvPr>
            <p:ph type="body" idx="1"/>
          </p:nvPr>
        </p:nvSpPr>
        <p:spPr/>
        <p:txBody>
          <a:bodyPr/>
          <a:lstStyle/>
          <a:p>
            <a:r>
              <a:rPr lang="en-US" dirty="0"/>
              <a:t>Note that </a:t>
            </a:r>
          </a:p>
          <a:p>
            <a:r>
              <a:rPr lang="en-US" dirty="0"/>
              <a:t>The last one is deliberately incorrect, so it should display an error message.</a:t>
            </a:r>
          </a:p>
          <a:p>
            <a:endParaRPr lang="en-US" dirty="0"/>
          </a:p>
        </p:txBody>
      </p:sp>
      <p:sp>
        <p:nvSpPr>
          <p:cNvPr id="4" name="Slide Number Placeholder 3">
            <a:extLst>
              <a:ext uri="{FF2B5EF4-FFF2-40B4-BE49-F238E27FC236}">
                <a16:creationId xmlns:a16="http://schemas.microsoft.com/office/drawing/2014/main" id="{D3B71896-A089-EBB5-C3A1-920375D4AAB0}"/>
              </a:ext>
            </a:extLst>
          </p:cNvPr>
          <p:cNvSpPr>
            <a:spLocks noGrp="1"/>
          </p:cNvSpPr>
          <p:nvPr>
            <p:ph type="sldNum" sz="quarter" idx="5"/>
          </p:nvPr>
        </p:nvSpPr>
        <p:spPr/>
        <p:txBody>
          <a:bodyPr/>
          <a:lstStyle/>
          <a:p>
            <a:fld id="{F97DC217-DF71-1A49-B3EA-559F1F43B0FF}" type="slidenum">
              <a:rPr lang="en-US" smtClean="0"/>
              <a:t>26</a:t>
            </a:fld>
            <a:endParaRPr lang="en-US" dirty="0"/>
          </a:p>
        </p:txBody>
      </p:sp>
    </p:spTree>
    <p:extLst>
      <p:ext uri="{BB962C8B-B14F-4D97-AF65-F5344CB8AC3E}">
        <p14:creationId xmlns:p14="http://schemas.microsoft.com/office/powerpoint/2010/main" val="16197182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A85DC-9EFA-8239-D757-147339C3D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4599BA-D802-0CD9-9F8E-5202355DD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63754A-850C-B494-AD49-D5253E9A67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AFD2F2-977D-8E9C-04B2-380E29A75ADE}"/>
              </a:ext>
            </a:extLst>
          </p:cNvPr>
          <p:cNvSpPr>
            <a:spLocks noGrp="1"/>
          </p:cNvSpPr>
          <p:nvPr>
            <p:ph type="sldNum" sz="quarter" idx="5"/>
          </p:nvPr>
        </p:nvSpPr>
        <p:spPr/>
        <p:txBody>
          <a:bodyPr/>
          <a:lstStyle/>
          <a:p>
            <a:fld id="{F97DC217-DF71-1A49-B3EA-559F1F43B0FF}" type="slidenum">
              <a:rPr lang="en-US" smtClean="0"/>
              <a:t>27</a:t>
            </a:fld>
            <a:endParaRPr lang="en-US" dirty="0"/>
          </a:p>
        </p:txBody>
      </p:sp>
    </p:spTree>
    <p:extLst>
      <p:ext uri="{BB962C8B-B14F-4D97-AF65-F5344CB8AC3E}">
        <p14:creationId xmlns:p14="http://schemas.microsoft.com/office/powerpoint/2010/main" val="37323780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D8E4C-690E-3AB1-73FF-0DD13D000E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A3EFC-2E43-3A74-D885-B02BB2D155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34FAFF-61F4-D02E-B60E-AB195BAECB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466934-3203-E95F-CBFA-3E138861D787}"/>
              </a:ext>
            </a:extLst>
          </p:cNvPr>
          <p:cNvSpPr>
            <a:spLocks noGrp="1"/>
          </p:cNvSpPr>
          <p:nvPr>
            <p:ph type="sldNum" sz="quarter" idx="5"/>
          </p:nvPr>
        </p:nvSpPr>
        <p:spPr/>
        <p:txBody>
          <a:bodyPr/>
          <a:lstStyle/>
          <a:p>
            <a:fld id="{F97DC217-DF71-1A49-B3EA-559F1F43B0FF}" type="slidenum">
              <a:rPr lang="en-US" smtClean="0"/>
              <a:t>28</a:t>
            </a:fld>
            <a:endParaRPr lang="en-US" dirty="0"/>
          </a:p>
        </p:txBody>
      </p:sp>
    </p:spTree>
    <p:extLst>
      <p:ext uri="{BB962C8B-B14F-4D97-AF65-F5344CB8AC3E}">
        <p14:creationId xmlns:p14="http://schemas.microsoft.com/office/powerpoint/2010/main" val="41561280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7D480-FBD1-4843-9513-DC3143485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AFC14-04A8-1EAE-9EB2-9BBE725E94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7C961A-6091-4908-DC63-A01A53DA5A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F4970B-8D60-CAF0-D767-9049144756D2}"/>
              </a:ext>
            </a:extLst>
          </p:cNvPr>
          <p:cNvSpPr>
            <a:spLocks noGrp="1"/>
          </p:cNvSpPr>
          <p:nvPr>
            <p:ph type="sldNum" sz="quarter" idx="5"/>
          </p:nvPr>
        </p:nvSpPr>
        <p:spPr/>
        <p:txBody>
          <a:bodyPr/>
          <a:lstStyle/>
          <a:p>
            <a:fld id="{F97DC217-DF71-1A49-B3EA-559F1F43B0FF}" type="slidenum">
              <a:rPr lang="en-US" smtClean="0"/>
              <a:t>29</a:t>
            </a:fld>
            <a:endParaRPr lang="en-US" dirty="0"/>
          </a:p>
        </p:txBody>
      </p:sp>
    </p:spTree>
    <p:extLst>
      <p:ext uri="{BB962C8B-B14F-4D97-AF65-F5344CB8AC3E}">
        <p14:creationId xmlns:p14="http://schemas.microsoft.com/office/powerpoint/2010/main" val="19430480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7DEB9-E48F-54B6-1EA3-E3F1F86340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DE235-F4B2-51E0-25D0-A0A9416F90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C90BF-D54C-E2E3-1708-EA38A43DA7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348F81-939F-EBBB-300F-0E9704DC8AA2}"/>
              </a:ext>
            </a:extLst>
          </p:cNvPr>
          <p:cNvSpPr>
            <a:spLocks noGrp="1"/>
          </p:cNvSpPr>
          <p:nvPr>
            <p:ph type="sldNum" sz="quarter" idx="5"/>
          </p:nvPr>
        </p:nvSpPr>
        <p:spPr/>
        <p:txBody>
          <a:bodyPr/>
          <a:lstStyle/>
          <a:p>
            <a:fld id="{F97DC217-DF71-1A49-B3EA-559F1F43B0FF}" type="slidenum">
              <a:rPr lang="en-US" smtClean="0"/>
              <a:t>30</a:t>
            </a:fld>
            <a:endParaRPr lang="en-US" dirty="0"/>
          </a:p>
        </p:txBody>
      </p:sp>
    </p:spTree>
    <p:extLst>
      <p:ext uri="{BB962C8B-B14F-4D97-AF65-F5344CB8AC3E}">
        <p14:creationId xmlns:p14="http://schemas.microsoft.com/office/powerpoint/2010/main" val="27491917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64064-9A6D-28F2-6D60-98B4DC6C1B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DF3542-0DE3-6AD8-FDF2-4E630E1D25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DAD13-8F24-8A77-B5C6-3017AC6076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42DFCF-B3C7-EE00-CE7B-EF93105BB957}"/>
              </a:ext>
            </a:extLst>
          </p:cNvPr>
          <p:cNvSpPr>
            <a:spLocks noGrp="1"/>
          </p:cNvSpPr>
          <p:nvPr>
            <p:ph type="sldNum" sz="quarter" idx="5"/>
          </p:nvPr>
        </p:nvSpPr>
        <p:spPr/>
        <p:txBody>
          <a:bodyPr/>
          <a:lstStyle/>
          <a:p>
            <a:fld id="{F97DC217-DF71-1A49-B3EA-559F1F43B0FF}" type="slidenum">
              <a:rPr lang="en-US" smtClean="0"/>
              <a:t>31</a:t>
            </a:fld>
            <a:endParaRPr lang="en-US" dirty="0"/>
          </a:p>
        </p:txBody>
      </p:sp>
    </p:spTree>
    <p:extLst>
      <p:ext uri="{BB962C8B-B14F-4D97-AF65-F5344CB8AC3E}">
        <p14:creationId xmlns:p14="http://schemas.microsoft.com/office/powerpoint/2010/main" val="13699354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33</a:t>
            </a:fld>
            <a:endParaRPr lang="en-US" dirty="0"/>
          </a:p>
        </p:txBody>
      </p:sp>
    </p:spTree>
    <p:extLst>
      <p:ext uri="{BB962C8B-B14F-4D97-AF65-F5344CB8AC3E}">
        <p14:creationId xmlns:p14="http://schemas.microsoft.com/office/powerpoint/2010/main" val="4862316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34</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r>
              <a:rPr lang="en-US" dirty="0"/>
              <a:t>Explore IDE’s &amp; File Handling</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1167492" y="45085"/>
            <a:ext cx="9779183" cy="1600835"/>
          </a:xfrm>
        </p:spPr>
        <p:txBody>
          <a:bodyPr/>
          <a:lstStyle/>
          <a:p>
            <a:r>
              <a:rPr lang="en-US" dirty="0"/>
              <a:t>Integrated Development Environments (IDE)</a:t>
            </a:r>
          </a:p>
        </p:txBody>
      </p:sp>
      <p:sp>
        <p:nvSpPr>
          <p:cNvPr id="3" name="Content Placeholder 2">
            <a:extLst>
              <a:ext uri="{FF2B5EF4-FFF2-40B4-BE49-F238E27FC236}">
                <a16:creationId xmlns:a16="http://schemas.microsoft.com/office/drawing/2014/main" id="{DAF7743C-9A64-6DD7-26EC-7870E2484D2F}"/>
              </a:ext>
            </a:extLst>
          </p:cNvPr>
          <p:cNvSpPr>
            <a:spLocks noGrp="1"/>
          </p:cNvSpPr>
          <p:nvPr>
            <p:ph idx="14"/>
          </p:nvPr>
        </p:nvSpPr>
        <p:spPr>
          <a:xfrm>
            <a:off x="1166813" y="2652713"/>
            <a:ext cx="9780587" cy="3436937"/>
          </a:xfrm>
        </p:spPr>
        <p:txBody>
          <a:bodyPr>
            <a:normAutofit/>
          </a:bodyPr>
          <a:lstStyle/>
          <a:p>
            <a:r>
              <a:rPr lang="en-US" dirty="0"/>
              <a:t>PyCharm (feature-rich, free community version, paid professional)</a:t>
            </a:r>
          </a:p>
          <a:p>
            <a:r>
              <a:rPr lang="en-US" dirty="0"/>
              <a:t>Spyder (designed for data science, advanced features for scientific computing)</a:t>
            </a:r>
          </a:p>
          <a:p>
            <a:r>
              <a:rPr lang="en-US" dirty="0"/>
              <a:t>Thonny (beginner friendly, simplified interface)</a:t>
            </a:r>
          </a:p>
          <a:p>
            <a:r>
              <a:rPr lang="en-US" dirty="0"/>
              <a:t>IDLE (default free comes with Python)</a:t>
            </a:r>
          </a:p>
          <a:p>
            <a:r>
              <a:rPr lang="en-US" dirty="0"/>
              <a:t>Visual Studio Code (customizable and powerful IDE with excellent Python support through extensions)</a:t>
            </a:r>
          </a:p>
          <a:p>
            <a:r>
              <a:rPr lang="en-US" dirty="0" err="1"/>
              <a:t>Jupyter</a:t>
            </a:r>
            <a:r>
              <a:rPr lang="en-US" dirty="0"/>
              <a:t> Notebook (NOT and IDE, popular interactive environment for Python, especially in data science and machine learning)</a:t>
            </a:r>
          </a:p>
          <a:p>
            <a:r>
              <a:rPr lang="en-US" dirty="0" err="1"/>
              <a:t>etc</a:t>
            </a:r>
            <a:endParaRPr lang="en-US" dirty="0"/>
          </a:p>
        </p:txBody>
      </p:sp>
    </p:spTree>
    <p:extLst>
      <p:ext uri="{BB962C8B-B14F-4D97-AF65-F5344CB8AC3E}">
        <p14:creationId xmlns:p14="http://schemas.microsoft.com/office/powerpoint/2010/main" val="2529338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dirty="0"/>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3366815"/>
          </a:xfrm>
        </p:spPr>
        <p:txBody>
          <a:bodyPr vert="horz" lIns="91440" tIns="45720" rIns="91440" bIns="45720" rtlCol="0" anchor="t">
            <a:normAutofit/>
          </a:bodyPr>
          <a:lstStyle/>
          <a:p>
            <a:br>
              <a:rPr lang="en-US" dirty="0"/>
            </a:br>
            <a:r>
              <a:rPr lang="en-US" dirty="0"/>
              <a:t>Intro to IDLE</a:t>
            </a:r>
          </a:p>
          <a:p>
            <a:r>
              <a:rPr lang="en-US" dirty="0"/>
              <a:t>How to use the interactive shell</a:t>
            </a:r>
          </a:p>
          <a:p>
            <a:r>
              <a:rPr lang="en-US" dirty="0"/>
              <a:t>Use shell with source code</a:t>
            </a:r>
          </a:p>
          <a:p>
            <a:r>
              <a:rPr lang="en-US" dirty="0"/>
              <a:t>Compilation from the editor window</a:t>
            </a:r>
          </a:p>
          <a:p>
            <a:r>
              <a:rPr lang="en-US" dirty="0"/>
              <a:t>Syntax and runtime errors</a:t>
            </a:r>
          </a:p>
        </p:txBody>
      </p:sp>
    </p:spTree>
    <p:extLst>
      <p:ext uri="{BB962C8B-B14F-4D97-AF65-F5344CB8AC3E}">
        <p14:creationId xmlns:p14="http://schemas.microsoft.com/office/powerpoint/2010/main" val="132560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8DD4-4828-CE87-0C5C-42BE175E8DA5}"/>
              </a:ext>
            </a:extLst>
          </p:cNvPr>
          <p:cNvSpPr>
            <a:spLocks noGrp="1"/>
          </p:cNvSpPr>
          <p:nvPr>
            <p:ph type="title"/>
          </p:nvPr>
        </p:nvSpPr>
        <p:spPr>
          <a:xfrm>
            <a:off x="1167492" y="1371600"/>
            <a:ext cx="5486400" cy="4114800"/>
          </a:xfrm>
        </p:spPr>
        <p:txBody>
          <a:bodyPr/>
          <a:lstStyle/>
          <a:p>
            <a:r>
              <a:rPr lang="en-US" dirty="0"/>
              <a:t>Intro to IDLE</a:t>
            </a:r>
          </a:p>
        </p:txBody>
      </p:sp>
      <p:pic>
        <p:nvPicPr>
          <p:cNvPr id="10" name="Picture Placeholder 9" descr="A person holding books in a classroom">
            <a:extLst>
              <a:ext uri="{FF2B5EF4-FFF2-40B4-BE49-F238E27FC236}">
                <a16:creationId xmlns:a16="http://schemas.microsoft.com/office/drawing/2014/main" id="{FCA2FB5B-570E-D181-A4B1-1DCB61C08948}"/>
              </a:ext>
            </a:extLst>
          </p:cNvPr>
          <p:cNvPicPr>
            <a:picLocks noGrp="1" noChangeAspect="1"/>
          </p:cNvPicPr>
          <p:nvPr>
            <p:ph type="pic" sz="quarter" idx="10"/>
          </p:nvPr>
        </p:nvPicPr>
        <p:blipFill rotWithShape="1">
          <a:blip r:embed="rId3">
            <a:duotone>
              <a:schemeClr val="accent4">
                <a:shade val="45000"/>
                <a:satMod val="135000"/>
              </a:schemeClr>
              <a:prstClr val="white"/>
            </a:duotone>
          </a:blip>
          <a:srcRect l="16819" r="16819"/>
          <a:stretch/>
        </p:blipFill>
        <p:spPr>
          <a:xfrm>
            <a:off x="7183438" y="1168400"/>
            <a:ext cx="4500562" cy="4521200"/>
          </a:xfrm>
        </p:spPr>
      </p:pic>
    </p:spTree>
    <p:extLst>
      <p:ext uri="{BB962C8B-B14F-4D97-AF65-F5344CB8AC3E}">
        <p14:creationId xmlns:p14="http://schemas.microsoft.com/office/powerpoint/2010/main" val="3662677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CFB73D-B7C9-A177-04F3-E48E841A875E}"/>
              </a:ext>
            </a:extLst>
          </p:cNvPr>
          <p:cNvSpPr>
            <a:spLocks noGrp="1"/>
          </p:cNvSpPr>
          <p:nvPr>
            <p:ph type="title"/>
          </p:nvPr>
        </p:nvSpPr>
        <p:spPr>
          <a:xfrm>
            <a:off x="1167492" y="69008"/>
            <a:ext cx="9779183" cy="1706563"/>
          </a:xfrm>
        </p:spPr>
        <p:txBody>
          <a:bodyPr/>
          <a:lstStyle/>
          <a:p>
            <a:r>
              <a:rPr lang="en-US" dirty="0"/>
              <a:t>IDLE</a:t>
            </a:r>
          </a:p>
        </p:txBody>
      </p:sp>
      <p:sp>
        <p:nvSpPr>
          <p:cNvPr id="4" name="Content Placeholder 3">
            <a:extLst>
              <a:ext uri="{FF2B5EF4-FFF2-40B4-BE49-F238E27FC236}">
                <a16:creationId xmlns:a16="http://schemas.microsoft.com/office/drawing/2014/main" id="{DBA34351-9D9C-8C32-5CC0-3F19A1CAC037}"/>
              </a:ext>
            </a:extLst>
          </p:cNvPr>
          <p:cNvSpPr>
            <a:spLocks noGrp="1"/>
          </p:cNvSpPr>
          <p:nvPr>
            <p:ph idx="12"/>
          </p:nvPr>
        </p:nvSpPr>
        <p:spPr>
          <a:xfrm>
            <a:off x="1166813" y="2024063"/>
            <a:ext cx="10221623" cy="3332162"/>
          </a:xfrm>
        </p:spPr>
        <p:txBody>
          <a:bodyPr>
            <a:normAutofit/>
          </a:bodyPr>
          <a:lstStyle/>
          <a:p>
            <a:r>
              <a:rPr lang="en-US" sz="3200" dirty="0"/>
              <a:t>Included in the Python distributions for Windows and macOS and can easily be installed on Linux</a:t>
            </a:r>
          </a:p>
          <a:p>
            <a:r>
              <a:rPr lang="en-US" sz="3200" dirty="0"/>
              <a:t>Last name of Eric Idle, one of the founding members of the Monty Python comedy club</a:t>
            </a:r>
          </a:p>
        </p:txBody>
      </p:sp>
    </p:spTree>
    <p:extLst>
      <p:ext uri="{BB962C8B-B14F-4D97-AF65-F5344CB8AC3E}">
        <p14:creationId xmlns:p14="http://schemas.microsoft.com/office/powerpoint/2010/main" val="2652102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EA48-404C-7E5B-0624-BF72DC66F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98054-370E-829D-5DD5-E6C19B78C0B7}"/>
              </a:ext>
            </a:extLst>
          </p:cNvPr>
          <p:cNvSpPr>
            <a:spLocks noGrp="1"/>
          </p:cNvSpPr>
          <p:nvPr>
            <p:ph type="title"/>
          </p:nvPr>
        </p:nvSpPr>
        <p:spPr>
          <a:xfrm>
            <a:off x="5943600" y="457200"/>
            <a:ext cx="5120640" cy="3200400"/>
          </a:xfrm>
        </p:spPr>
        <p:txBody>
          <a:bodyPr/>
          <a:lstStyle/>
          <a:p>
            <a:r>
              <a:rPr lang="en-US" dirty="0"/>
              <a:t>How to use the interactive shell </a:t>
            </a:r>
          </a:p>
        </p:txBody>
      </p:sp>
      <p:sp>
        <p:nvSpPr>
          <p:cNvPr id="3" name="Subtitle 2">
            <a:extLst>
              <a:ext uri="{FF2B5EF4-FFF2-40B4-BE49-F238E27FC236}">
                <a16:creationId xmlns:a16="http://schemas.microsoft.com/office/drawing/2014/main" id="{20C1C977-5DFC-5F19-B56B-A89F34775DA1}"/>
              </a:ext>
            </a:extLst>
          </p:cNvPr>
          <p:cNvSpPr>
            <a:spLocks noGrp="1"/>
          </p:cNvSpPr>
          <p:nvPr>
            <p:ph type="subTitle" idx="1"/>
          </p:nvPr>
        </p:nvSpPr>
        <p:spPr>
          <a:xfrm>
            <a:off x="5943598" y="3657600"/>
            <a:ext cx="5120640" cy="1828800"/>
          </a:xfrm>
        </p:spPr>
        <p:txBody>
          <a:bodyPr/>
          <a:lstStyle/>
          <a:p>
            <a:r>
              <a:rPr lang="en-US" dirty="0"/>
              <a:t>Get comfy, use the language, practice and exercise</a:t>
            </a:r>
          </a:p>
        </p:txBody>
      </p:sp>
      <p:pic>
        <p:nvPicPr>
          <p:cNvPr id="17" name="Picture Placeholder 16" descr="Two people walking down a sidewalk">
            <a:extLst>
              <a:ext uri="{FF2B5EF4-FFF2-40B4-BE49-F238E27FC236}">
                <a16:creationId xmlns:a16="http://schemas.microsoft.com/office/drawing/2014/main" id="{1DCEE3DD-15C6-AD1B-9BF3-C70B86405BBC}"/>
              </a:ext>
            </a:extLst>
          </p:cNvPr>
          <p:cNvPicPr>
            <a:picLocks noGrp="1" noChangeAspect="1"/>
          </p:cNvPicPr>
          <p:nvPr>
            <p:ph type="pic" sz="quarter" idx="10"/>
          </p:nvPr>
        </p:nvPicPr>
        <p:blipFill rotWithShape="1">
          <a:blip r:embed="rId3">
            <a:duotone>
              <a:schemeClr val="accent4">
                <a:shade val="45000"/>
                <a:satMod val="135000"/>
              </a:schemeClr>
              <a:prstClr val="white"/>
            </a:duotone>
          </a:blip>
          <a:srcRect l="16819" r="16819"/>
          <a:stretch/>
        </p:blipFill>
        <p:spPr>
          <a:xfrm>
            <a:off x="904238" y="1157224"/>
            <a:ext cx="4500562" cy="4521200"/>
          </a:xfrm>
        </p:spPr>
      </p:pic>
    </p:spTree>
    <p:extLst>
      <p:ext uri="{BB962C8B-B14F-4D97-AF65-F5344CB8AC3E}">
        <p14:creationId xmlns:p14="http://schemas.microsoft.com/office/powerpoint/2010/main" val="3239433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EA226-F83A-3CCD-E0D5-401A1860A8B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9D170D3-14D8-8C36-EC7F-70E2AA23B5D7}"/>
              </a:ext>
            </a:extLst>
          </p:cNvPr>
          <p:cNvSpPr>
            <a:spLocks noGrp="1"/>
          </p:cNvSpPr>
          <p:nvPr>
            <p:ph type="title"/>
          </p:nvPr>
        </p:nvSpPr>
        <p:spPr>
          <a:xfrm>
            <a:off x="1167492" y="69008"/>
            <a:ext cx="9779183" cy="1706563"/>
          </a:xfrm>
        </p:spPr>
        <p:txBody>
          <a:bodyPr/>
          <a:lstStyle/>
          <a:p>
            <a:r>
              <a:rPr lang="en-US" dirty="0"/>
              <a:t>How to use the </a:t>
            </a:r>
            <a:r>
              <a:rPr lang="en-US" i="1" u="sng" dirty="0"/>
              <a:t>interactive shell</a:t>
            </a:r>
          </a:p>
        </p:txBody>
      </p:sp>
      <p:sp>
        <p:nvSpPr>
          <p:cNvPr id="4" name="Content Placeholder 3">
            <a:extLst>
              <a:ext uri="{FF2B5EF4-FFF2-40B4-BE49-F238E27FC236}">
                <a16:creationId xmlns:a16="http://schemas.microsoft.com/office/drawing/2014/main" id="{EE0F2B8F-DBB5-784C-FE4E-BF41868DE0F5}"/>
              </a:ext>
            </a:extLst>
          </p:cNvPr>
          <p:cNvSpPr>
            <a:spLocks noGrp="1"/>
          </p:cNvSpPr>
          <p:nvPr>
            <p:ph idx="12"/>
          </p:nvPr>
        </p:nvSpPr>
        <p:spPr>
          <a:xfrm>
            <a:off x="1166813" y="2024063"/>
            <a:ext cx="10221623" cy="3332162"/>
          </a:xfrm>
        </p:spPr>
        <p:txBody>
          <a:bodyPr>
            <a:normAutofit fontScale="85000" lnSpcReduction="20000"/>
          </a:bodyPr>
          <a:lstStyle/>
          <a:p>
            <a:r>
              <a:rPr lang="en-US" sz="3200" dirty="0"/>
              <a:t>Easy to enter and test </a:t>
            </a:r>
            <a:r>
              <a:rPr lang="en-US" sz="3200" b="1" i="1" u="sng" dirty="0"/>
              <a:t>Python statements</a:t>
            </a:r>
            <a:r>
              <a:rPr lang="en-US" sz="3200" u="sng" dirty="0"/>
              <a:t> </a:t>
            </a:r>
            <a:r>
              <a:rPr lang="en-US" sz="3200" dirty="0"/>
              <a:t>without writing full programs.</a:t>
            </a:r>
          </a:p>
          <a:p>
            <a:r>
              <a:rPr lang="en-US" sz="3200" dirty="0"/>
              <a:t>Start the shell (search in your computer for IDLE and open)</a:t>
            </a:r>
          </a:p>
          <a:p>
            <a:r>
              <a:rPr lang="en-US" sz="3200" dirty="0"/>
              <a:t>Notice it displays some version and copywrite info followed by it’s </a:t>
            </a:r>
            <a:r>
              <a:rPr lang="en-US" sz="3200" b="1" i="1" u="sng" dirty="0"/>
              <a:t>prompt</a:t>
            </a:r>
            <a:r>
              <a:rPr lang="en-US" sz="3200" dirty="0"/>
              <a:t> &gt;&gt;&gt;</a:t>
            </a:r>
          </a:p>
          <a:p>
            <a:r>
              <a:rPr lang="en-US" sz="3200" dirty="0"/>
              <a:t>At this prompt you can type any Python code that you want</a:t>
            </a:r>
          </a:p>
          <a:p>
            <a:r>
              <a:rPr lang="en-US" sz="3200" dirty="0"/>
              <a:t>Then, when you press the enter key, Python runs the code, displays the results if there are any, and displays another prompt. </a:t>
            </a:r>
          </a:p>
        </p:txBody>
      </p:sp>
    </p:spTree>
    <p:extLst>
      <p:ext uri="{BB962C8B-B14F-4D97-AF65-F5344CB8AC3E}">
        <p14:creationId xmlns:p14="http://schemas.microsoft.com/office/powerpoint/2010/main" val="1497819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screenshot of a computer program&#10;&#10;AI-generated content may be incorrect.">
            <a:extLst>
              <a:ext uri="{FF2B5EF4-FFF2-40B4-BE49-F238E27FC236}">
                <a16:creationId xmlns:a16="http://schemas.microsoft.com/office/drawing/2014/main" id="{A12BEFDE-7294-5477-73CB-57504E617CD1}"/>
              </a:ext>
            </a:extLst>
          </p:cNvPr>
          <p:cNvPicPr>
            <a:picLocks noChangeAspect="1"/>
          </p:cNvPicPr>
          <p:nvPr/>
        </p:nvPicPr>
        <p:blipFill>
          <a:blip r:embed="rId3"/>
          <a:stretch>
            <a:fillRect/>
          </a:stretch>
        </p:blipFill>
        <p:spPr>
          <a:xfrm>
            <a:off x="1076952" y="198351"/>
            <a:ext cx="9038251" cy="6033226"/>
          </a:xfrm>
          <a:prstGeom prst="rect">
            <a:avLst/>
          </a:prstGeom>
        </p:spPr>
      </p:pic>
      <p:cxnSp>
        <p:nvCxnSpPr>
          <p:cNvPr id="13" name="Straight Arrow Connector 12">
            <a:extLst>
              <a:ext uri="{FF2B5EF4-FFF2-40B4-BE49-F238E27FC236}">
                <a16:creationId xmlns:a16="http://schemas.microsoft.com/office/drawing/2014/main" id="{289D7030-6A10-968B-32B1-E8A0F9C0588B}"/>
              </a:ext>
            </a:extLst>
          </p:cNvPr>
          <p:cNvCxnSpPr/>
          <p:nvPr/>
        </p:nvCxnSpPr>
        <p:spPr>
          <a:xfrm>
            <a:off x="973015" y="2028092"/>
            <a:ext cx="63304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80769D1-C27A-ADA5-F3B6-549378DC9F5E}"/>
              </a:ext>
            </a:extLst>
          </p:cNvPr>
          <p:cNvSpPr txBox="1"/>
          <p:nvPr/>
        </p:nvSpPr>
        <p:spPr>
          <a:xfrm>
            <a:off x="6096000" y="2450123"/>
            <a:ext cx="1863969" cy="1754326"/>
          </a:xfrm>
          <a:prstGeom prst="rect">
            <a:avLst/>
          </a:prstGeom>
          <a:noFill/>
        </p:spPr>
        <p:txBody>
          <a:bodyPr wrap="square" rtlCol="0">
            <a:spAutoFit/>
          </a:bodyPr>
          <a:lstStyle/>
          <a:p>
            <a:r>
              <a:rPr lang="en-US" dirty="0"/>
              <a:t>The first prompt executes a print function that prints “Hello out there!” to the console.</a:t>
            </a:r>
          </a:p>
        </p:txBody>
      </p:sp>
      <p:sp>
        <p:nvSpPr>
          <p:cNvPr id="15" name="TextBox 14">
            <a:extLst>
              <a:ext uri="{FF2B5EF4-FFF2-40B4-BE49-F238E27FC236}">
                <a16:creationId xmlns:a16="http://schemas.microsoft.com/office/drawing/2014/main" id="{3F151D2D-CE22-CF59-A3B1-3468CF7DCD01}"/>
              </a:ext>
            </a:extLst>
          </p:cNvPr>
          <p:cNvSpPr txBox="1"/>
          <p:nvPr/>
        </p:nvSpPr>
        <p:spPr>
          <a:xfrm>
            <a:off x="7244863" y="4290646"/>
            <a:ext cx="2337182" cy="1477328"/>
          </a:xfrm>
          <a:prstGeom prst="rect">
            <a:avLst/>
          </a:prstGeom>
          <a:noFill/>
        </p:spPr>
        <p:txBody>
          <a:bodyPr wrap="square" rtlCol="0">
            <a:spAutoFit/>
          </a:bodyPr>
          <a:lstStyle/>
          <a:p>
            <a:r>
              <a:rPr lang="en-US" dirty="0"/>
              <a:t>This displays the characters coded within the quotation marks immediately after the prompt.</a:t>
            </a:r>
          </a:p>
        </p:txBody>
      </p:sp>
      <p:sp>
        <p:nvSpPr>
          <p:cNvPr id="16" name="Rectangle 15">
            <a:extLst>
              <a:ext uri="{FF2B5EF4-FFF2-40B4-BE49-F238E27FC236}">
                <a16:creationId xmlns:a16="http://schemas.microsoft.com/office/drawing/2014/main" id="{458B9171-C891-3539-E865-E90A91AC325E}"/>
              </a:ext>
            </a:extLst>
          </p:cNvPr>
          <p:cNvSpPr/>
          <p:nvPr/>
        </p:nvSpPr>
        <p:spPr>
          <a:xfrm>
            <a:off x="5509219" y="2028092"/>
            <a:ext cx="728084"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1.</a:t>
            </a:r>
          </a:p>
        </p:txBody>
      </p:sp>
      <p:sp>
        <p:nvSpPr>
          <p:cNvPr id="17" name="Rectangle 16">
            <a:extLst>
              <a:ext uri="{FF2B5EF4-FFF2-40B4-BE49-F238E27FC236}">
                <a16:creationId xmlns:a16="http://schemas.microsoft.com/office/drawing/2014/main" id="{3DD9EFC2-D076-B23A-BD53-7A6F640DCA8B}"/>
              </a:ext>
            </a:extLst>
          </p:cNvPr>
          <p:cNvSpPr/>
          <p:nvPr/>
        </p:nvSpPr>
        <p:spPr>
          <a:xfrm>
            <a:off x="6663942" y="4105980"/>
            <a:ext cx="728084"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2.</a:t>
            </a:r>
          </a:p>
        </p:txBody>
      </p:sp>
    </p:spTree>
    <p:extLst>
      <p:ext uri="{BB962C8B-B14F-4D97-AF65-F5344CB8AC3E}">
        <p14:creationId xmlns:p14="http://schemas.microsoft.com/office/powerpoint/2010/main" val="1265939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3E745-FA14-B112-F4CD-D1381E347168}"/>
            </a:ext>
          </a:extLst>
        </p:cNvPr>
        <p:cNvGrpSpPr/>
        <p:nvPr/>
      </p:nvGrpSpPr>
      <p:grpSpPr>
        <a:xfrm>
          <a:off x="0" y="0"/>
          <a:ext cx="0" cy="0"/>
          <a:chOff x="0" y="0"/>
          <a:chExt cx="0" cy="0"/>
        </a:xfrm>
      </p:grpSpPr>
      <p:pic>
        <p:nvPicPr>
          <p:cNvPr id="11" name="Picture 10" descr="A screenshot of a computer program&#10;&#10;AI-generated content may be incorrect.">
            <a:extLst>
              <a:ext uri="{FF2B5EF4-FFF2-40B4-BE49-F238E27FC236}">
                <a16:creationId xmlns:a16="http://schemas.microsoft.com/office/drawing/2014/main" id="{0234957B-6238-4461-2B7C-910B4187596D}"/>
              </a:ext>
            </a:extLst>
          </p:cNvPr>
          <p:cNvPicPr>
            <a:picLocks noChangeAspect="1"/>
          </p:cNvPicPr>
          <p:nvPr/>
        </p:nvPicPr>
        <p:blipFill>
          <a:blip r:embed="rId3"/>
          <a:stretch>
            <a:fillRect/>
          </a:stretch>
        </p:blipFill>
        <p:spPr>
          <a:xfrm>
            <a:off x="1076952" y="198351"/>
            <a:ext cx="9038251" cy="6033226"/>
          </a:xfrm>
          <a:prstGeom prst="rect">
            <a:avLst/>
          </a:prstGeom>
        </p:spPr>
      </p:pic>
      <p:cxnSp>
        <p:nvCxnSpPr>
          <p:cNvPr id="13" name="Straight Arrow Connector 12">
            <a:extLst>
              <a:ext uri="{FF2B5EF4-FFF2-40B4-BE49-F238E27FC236}">
                <a16:creationId xmlns:a16="http://schemas.microsoft.com/office/drawing/2014/main" id="{AD347747-1D75-6D0D-C3D3-848A03DBE983}"/>
              </a:ext>
            </a:extLst>
          </p:cNvPr>
          <p:cNvCxnSpPr/>
          <p:nvPr/>
        </p:nvCxnSpPr>
        <p:spPr>
          <a:xfrm>
            <a:off x="1076952" y="2450123"/>
            <a:ext cx="63304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1C9B8B0-EA6B-9DE6-C69D-8A1F7361A036}"/>
              </a:ext>
            </a:extLst>
          </p:cNvPr>
          <p:cNvSpPr txBox="1"/>
          <p:nvPr/>
        </p:nvSpPr>
        <p:spPr>
          <a:xfrm>
            <a:off x="6096000" y="2450123"/>
            <a:ext cx="1863969" cy="1200329"/>
          </a:xfrm>
          <a:prstGeom prst="rect">
            <a:avLst/>
          </a:prstGeom>
          <a:noFill/>
        </p:spPr>
        <p:txBody>
          <a:bodyPr wrap="square" rtlCol="0">
            <a:spAutoFit/>
          </a:bodyPr>
          <a:lstStyle/>
          <a:p>
            <a:r>
              <a:rPr lang="en-US" dirty="0"/>
              <a:t>The second ..... ……… evaluates arithmetic expressions and</a:t>
            </a:r>
          </a:p>
        </p:txBody>
      </p:sp>
      <p:sp>
        <p:nvSpPr>
          <p:cNvPr id="15" name="TextBox 14">
            <a:extLst>
              <a:ext uri="{FF2B5EF4-FFF2-40B4-BE49-F238E27FC236}">
                <a16:creationId xmlns:a16="http://schemas.microsoft.com/office/drawing/2014/main" id="{95CF86A5-5945-9022-A372-1C9EA9AE33BA}"/>
              </a:ext>
            </a:extLst>
          </p:cNvPr>
          <p:cNvSpPr txBox="1"/>
          <p:nvPr/>
        </p:nvSpPr>
        <p:spPr>
          <a:xfrm>
            <a:off x="7244863" y="4290646"/>
            <a:ext cx="2337182" cy="1200329"/>
          </a:xfrm>
          <a:prstGeom prst="rect">
            <a:avLst/>
          </a:prstGeom>
          <a:noFill/>
        </p:spPr>
        <p:txBody>
          <a:bodyPr wrap="square" rtlCol="0">
            <a:spAutoFit/>
          </a:bodyPr>
          <a:lstStyle/>
          <a:p>
            <a:r>
              <a:rPr lang="en-US" dirty="0"/>
              <a:t>This displays the result of the expression ……….. After the  ……</a:t>
            </a:r>
          </a:p>
        </p:txBody>
      </p:sp>
      <p:sp>
        <p:nvSpPr>
          <p:cNvPr id="16" name="Rectangle 15">
            <a:extLst>
              <a:ext uri="{FF2B5EF4-FFF2-40B4-BE49-F238E27FC236}">
                <a16:creationId xmlns:a16="http://schemas.microsoft.com/office/drawing/2014/main" id="{1FFE4C1D-70B7-3E89-2ECD-5AE0B504FFFD}"/>
              </a:ext>
            </a:extLst>
          </p:cNvPr>
          <p:cNvSpPr/>
          <p:nvPr/>
        </p:nvSpPr>
        <p:spPr>
          <a:xfrm>
            <a:off x="5509219" y="2028092"/>
            <a:ext cx="728084"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3</a:t>
            </a:r>
            <a:r>
              <a:rPr lang="en-US" sz="5400" b="0" cap="none" spc="0" dirty="0">
                <a:ln w="0"/>
                <a:solidFill>
                  <a:schemeClr val="tx1"/>
                </a:solidFill>
                <a:effectLst>
                  <a:outerShdw blurRad="38100" dist="19050" dir="2700000" algn="tl" rotWithShape="0">
                    <a:schemeClr val="dk1">
                      <a:alpha val="40000"/>
                    </a:schemeClr>
                  </a:outerShdw>
                </a:effectLst>
              </a:rPr>
              <a:t>.</a:t>
            </a:r>
          </a:p>
        </p:txBody>
      </p:sp>
      <p:sp>
        <p:nvSpPr>
          <p:cNvPr id="17" name="Rectangle 16">
            <a:extLst>
              <a:ext uri="{FF2B5EF4-FFF2-40B4-BE49-F238E27FC236}">
                <a16:creationId xmlns:a16="http://schemas.microsoft.com/office/drawing/2014/main" id="{DA420A11-4000-9CE4-16F3-57BF3D68EA1F}"/>
              </a:ext>
            </a:extLst>
          </p:cNvPr>
          <p:cNvSpPr/>
          <p:nvPr/>
        </p:nvSpPr>
        <p:spPr>
          <a:xfrm>
            <a:off x="6667148" y="4105980"/>
            <a:ext cx="721672"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4</a:t>
            </a:r>
            <a:r>
              <a:rPr lang="en-US" sz="5400" b="0" cap="none" spc="0" dirty="0">
                <a:ln w="0"/>
                <a:solidFill>
                  <a:schemeClr val="tx1"/>
                </a:solidFill>
                <a:effectLst>
                  <a:outerShdw blurRad="38100" dist="19050" dir="2700000" algn="tl" rotWithShape="0">
                    <a:schemeClr val="dk1">
                      <a:alpha val="40000"/>
                    </a:schemeClr>
                  </a:outerShdw>
                </a:effectLst>
              </a:rPr>
              <a:t>.</a:t>
            </a:r>
          </a:p>
        </p:txBody>
      </p:sp>
    </p:spTree>
    <p:extLst>
      <p:ext uri="{BB962C8B-B14F-4D97-AF65-F5344CB8AC3E}">
        <p14:creationId xmlns:p14="http://schemas.microsoft.com/office/powerpoint/2010/main" val="4233897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4137F-D895-1BB5-BC22-3CA94346888C}"/>
            </a:ext>
          </a:extLst>
        </p:cNvPr>
        <p:cNvGrpSpPr/>
        <p:nvPr/>
      </p:nvGrpSpPr>
      <p:grpSpPr>
        <a:xfrm>
          <a:off x="0" y="0"/>
          <a:ext cx="0" cy="0"/>
          <a:chOff x="0" y="0"/>
          <a:chExt cx="0" cy="0"/>
        </a:xfrm>
      </p:grpSpPr>
      <p:pic>
        <p:nvPicPr>
          <p:cNvPr id="11" name="Picture 10" descr="A screenshot of a computer program&#10;&#10;AI-generated content may be incorrect.">
            <a:extLst>
              <a:ext uri="{FF2B5EF4-FFF2-40B4-BE49-F238E27FC236}">
                <a16:creationId xmlns:a16="http://schemas.microsoft.com/office/drawing/2014/main" id="{72D4D9DB-52E3-E62A-FA17-D7F0887C4EB8}"/>
              </a:ext>
            </a:extLst>
          </p:cNvPr>
          <p:cNvPicPr>
            <a:picLocks noChangeAspect="1"/>
          </p:cNvPicPr>
          <p:nvPr/>
        </p:nvPicPr>
        <p:blipFill>
          <a:blip r:embed="rId3"/>
          <a:stretch>
            <a:fillRect/>
          </a:stretch>
        </p:blipFill>
        <p:spPr>
          <a:xfrm>
            <a:off x="1076952" y="198351"/>
            <a:ext cx="9038251" cy="6033226"/>
          </a:xfrm>
          <a:prstGeom prst="rect">
            <a:avLst/>
          </a:prstGeom>
        </p:spPr>
      </p:pic>
      <p:cxnSp>
        <p:nvCxnSpPr>
          <p:cNvPr id="13" name="Straight Arrow Connector 12">
            <a:extLst>
              <a:ext uri="{FF2B5EF4-FFF2-40B4-BE49-F238E27FC236}">
                <a16:creationId xmlns:a16="http://schemas.microsoft.com/office/drawing/2014/main" id="{2E55C64B-BB29-9D68-9D1E-D6BEA93C5B29}"/>
              </a:ext>
            </a:extLst>
          </p:cNvPr>
          <p:cNvCxnSpPr/>
          <p:nvPr/>
        </p:nvCxnSpPr>
        <p:spPr>
          <a:xfrm>
            <a:off x="1076952" y="2813538"/>
            <a:ext cx="63304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361B28D-6608-A008-FA35-47C1D6071D04}"/>
              </a:ext>
            </a:extLst>
          </p:cNvPr>
          <p:cNvSpPr txBox="1"/>
          <p:nvPr/>
        </p:nvSpPr>
        <p:spPr>
          <a:xfrm>
            <a:off x="6095999" y="2375507"/>
            <a:ext cx="1863969" cy="1200329"/>
          </a:xfrm>
          <a:prstGeom prst="rect">
            <a:avLst/>
          </a:prstGeom>
          <a:noFill/>
        </p:spPr>
        <p:txBody>
          <a:bodyPr wrap="square" rtlCol="0">
            <a:spAutoFit/>
          </a:bodyPr>
          <a:lstStyle/>
          <a:p>
            <a:r>
              <a:rPr lang="en-US" dirty="0"/>
              <a:t>The ….. ..... ……… evaluates another ……….. expression</a:t>
            </a:r>
          </a:p>
        </p:txBody>
      </p:sp>
      <p:sp>
        <p:nvSpPr>
          <p:cNvPr id="15" name="TextBox 14">
            <a:extLst>
              <a:ext uri="{FF2B5EF4-FFF2-40B4-BE49-F238E27FC236}">
                <a16:creationId xmlns:a16="http://schemas.microsoft.com/office/drawing/2014/main" id="{B6778CED-E339-3466-8183-44A488BF5454}"/>
              </a:ext>
            </a:extLst>
          </p:cNvPr>
          <p:cNvSpPr txBox="1"/>
          <p:nvPr/>
        </p:nvSpPr>
        <p:spPr>
          <a:xfrm>
            <a:off x="7244863" y="4290646"/>
            <a:ext cx="2337182" cy="923330"/>
          </a:xfrm>
          <a:prstGeom prst="rect">
            <a:avLst/>
          </a:prstGeom>
          <a:noFill/>
        </p:spPr>
        <p:txBody>
          <a:bodyPr wrap="square" rtlCol="0">
            <a:spAutoFit/>
          </a:bodyPr>
          <a:lstStyle/>
          <a:p>
            <a:r>
              <a:rPr lang="en-US" dirty="0"/>
              <a:t>This …….. the …… of the expression ……….. After the  ……</a:t>
            </a:r>
          </a:p>
        </p:txBody>
      </p:sp>
      <p:sp>
        <p:nvSpPr>
          <p:cNvPr id="16" name="Rectangle 15">
            <a:extLst>
              <a:ext uri="{FF2B5EF4-FFF2-40B4-BE49-F238E27FC236}">
                <a16:creationId xmlns:a16="http://schemas.microsoft.com/office/drawing/2014/main" id="{165B890F-7C36-BA3B-3AA7-FBBB7981801F}"/>
              </a:ext>
            </a:extLst>
          </p:cNvPr>
          <p:cNvSpPr/>
          <p:nvPr/>
        </p:nvSpPr>
        <p:spPr>
          <a:xfrm>
            <a:off x="5509219" y="2028092"/>
            <a:ext cx="728084"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5.</a:t>
            </a:r>
          </a:p>
        </p:txBody>
      </p:sp>
      <p:sp>
        <p:nvSpPr>
          <p:cNvPr id="17" name="Rectangle 16">
            <a:extLst>
              <a:ext uri="{FF2B5EF4-FFF2-40B4-BE49-F238E27FC236}">
                <a16:creationId xmlns:a16="http://schemas.microsoft.com/office/drawing/2014/main" id="{B724DE1D-44E9-11A6-938B-DA9E0278E6B3}"/>
              </a:ext>
            </a:extLst>
          </p:cNvPr>
          <p:cNvSpPr/>
          <p:nvPr/>
        </p:nvSpPr>
        <p:spPr>
          <a:xfrm>
            <a:off x="6663942" y="4105980"/>
            <a:ext cx="728084"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6.</a:t>
            </a:r>
          </a:p>
        </p:txBody>
      </p:sp>
    </p:spTree>
    <p:extLst>
      <p:ext uri="{BB962C8B-B14F-4D97-AF65-F5344CB8AC3E}">
        <p14:creationId xmlns:p14="http://schemas.microsoft.com/office/powerpoint/2010/main" val="3465783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7D6EF-D403-768D-817A-B538A817BB70}"/>
            </a:ext>
          </a:extLst>
        </p:cNvPr>
        <p:cNvGrpSpPr/>
        <p:nvPr/>
      </p:nvGrpSpPr>
      <p:grpSpPr>
        <a:xfrm>
          <a:off x="0" y="0"/>
          <a:ext cx="0" cy="0"/>
          <a:chOff x="0" y="0"/>
          <a:chExt cx="0" cy="0"/>
        </a:xfrm>
      </p:grpSpPr>
      <p:pic>
        <p:nvPicPr>
          <p:cNvPr id="11" name="Picture 10" descr="A screenshot of a computer program&#10;&#10;AI-generated content may be incorrect.">
            <a:extLst>
              <a:ext uri="{FF2B5EF4-FFF2-40B4-BE49-F238E27FC236}">
                <a16:creationId xmlns:a16="http://schemas.microsoft.com/office/drawing/2014/main" id="{8A74624A-D2AB-30DC-2193-A861333866B8}"/>
              </a:ext>
            </a:extLst>
          </p:cNvPr>
          <p:cNvPicPr>
            <a:picLocks noChangeAspect="1"/>
          </p:cNvPicPr>
          <p:nvPr/>
        </p:nvPicPr>
        <p:blipFill>
          <a:blip r:embed="rId3"/>
          <a:stretch>
            <a:fillRect/>
          </a:stretch>
        </p:blipFill>
        <p:spPr>
          <a:xfrm>
            <a:off x="1076952" y="198351"/>
            <a:ext cx="9038251" cy="6033226"/>
          </a:xfrm>
          <a:prstGeom prst="rect">
            <a:avLst/>
          </a:prstGeom>
        </p:spPr>
      </p:pic>
      <p:cxnSp>
        <p:nvCxnSpPr>
          <p:cNvPr id="13" name="Straight Arrow Connector 12">
            <a:extLst>
              <a:ext uri="{FF2B5EF4-FFF2-40B4-BE49-F238E27FC236}">
                <a16:creationId xmlns:a16="http://schemas.microsoft.com/office/drawing/2014/main" id="{B977D868-2EE3-85E1-17C6-2DFE4EEB0D92}"/>
              </a:ext>
            </a:extLst>
          </p:cNvPr>
          <p:cNvCxnSpPr/>
          <p:nvPr/>
        </p:nvCxnSpPr>
        <p:spPr>
          <a:xfrm>
            <a:off x="1076952" y="3223845"/>
            <a:ext cx="63304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ABD281D-3D58-77B7-B9AF-0595167F3403}"/>
              </a:ext>
            </a:extLst>
          </p:cNvPr>
          <p:cNvSpPr/>
          <p:nvPr/>
        </p:nvSpPr>
        <p:spPr>
          <a:xfrm>
            <a:off x="5540669" y="2028092"/>
            <a:ext cx="665183"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7</a:t>
            </a:r>
            <a:r>
              <a:rPr lang="en-US" sz="5400" b="0" cap="none" spc="0" dirty="0">
                <a:ln w="0"/>
                <a:solidFill>
                  <a:schemeClr val="tx1"/>
                </a:solidFill>
                <a:effectLst>
                  <a:outerShdw blurRad="38100" dist="19050" dir="2700000" algn="tl" rotWithShape="0">
                    <a:schemeClr val="dk1">
                      <a:alpha val="40000"/>
                    </a:schemeClr>
                  </a:outerShdw>
                </a:effectLst>
              </a:rPr>
              <a:t>.</a:t>
            </a:r>
          </a:p>
        </p:txBody>
      </p:sp>
      <p:sp>
        <p:nvSpPr>
          <p:cNvPr id="17" name="Rectangle 16">
            <a:extLst>
              <a:ext uri="{FF2B5EF4-FFF2-40B4-BE49-F238E27FC236}">
                <a16:creationId xmlns:a16="http://schemas.microsoft.com/office/drawing/2014/main" id="{225758CA-05D6-27B5-18A5-B1020AB7DE08}"/>
              </a:ext>
            </a:extLst>
          </p:cNvPr>
          <p:cNvSpPr/>
          <p:nvPr/>
        </p:nvSpPr>
        <p:spPr>
          <a:xfrm>
            <a:off x="6663942" y="4105980"/>
            <a:ext cx="728084"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8</a:t>
            </a:r>
            <a:r>
              <a:rPr lang="en-US" sz="5400" b="0" cap="none" spc="0" dirty="0">
                <a:ln w="0"/>
                <a:solidFill>
                  <a:schemeClr val="tx1"/>
                </a:solidFill>
                <a:effectLst>
                  <a:outerShdw blurRad="38100" dist="19050" dir="2700000" algn="tl" rotWithShape="0">
                    <a:schemeClr val="dk1">
                      <a:alpha val="40000"/>
                    </a:schemeClr>
                  </a:outerShdw>
                </a:effectLst>
              </a:rPr>
              <a:t>.</a:t>
            </a:r>
          </a:p>
        </p:txBody>
      </p:sp>
    </p:spTree>
    <p:extLst>
      <p:ext uri="{BB962C8B-B14F-4D97-AF65-F5344CB8AC3E}">
        <p14:creationId xmlns:p14="http://schemas.microsoft.com/office/powerpoint/2010/main" val="833587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18E35-092E-C1B9-28E8-FD878566DA68}"/>
            </a:ext>
          </a:extLst>
        </p:cNvPr>
        <p:cNvGrpSpPr/>
        <p:nvPr/>
      </p:nvGrpSpPr>
      <p:grpSpPr>
        <a:xfrm>
          <a:off x="0" y="0"/>
          <a:ext cx="0" cy="0"/>
          <a:chOff x="0" y="0"/>
          <a:chExt cx="0" cy="0"/>
        </a:xfrm>
      </p:grpSpPr>
      <p:pic>
        <p:nvPicPr>
          <p:cNvPr id="11" name="Picture 10" descr="A screenshot of a computer program&#10;&#10;AI-generated content may be incorrect.">
            <a:extLst>
              <a:ext uri="{FF2B5EF4-FFF2-40B4-BE49-F238E27FC236}">
                <a16:creationId xmlns:a16="http://schemas.microsoft.com/office/drawing/2014/main" id="{5C201677-A922-836C-D399-D5FEFB92D8E9}"/>
              </a:ext>
            </a:extLst>
          </p:cNvPr>
          <p:cNvPicPr>
            <a:picLocks noChangeAspect="1"/>
          </p:cNvPicPr>
          <p:nvPr/>
        </p:nvPicPr>
        <p:blipFill>
          <a:blip r:embed="rId3"/>
          <a:stretch>
            <a:fillRect/>
          </a:stretch>
        </p:blipFill>
        <p:spPr>
          <a:xfrm>
            <a:off x="1076952" y="198351"/>
            <a:ext cx="9038251" cy="6033226"/>
          </a:xfrm>
          <a:prstGeom prst="rect">
            <a:avLst/>
          </a:prstGeom>
        </p:spPr>
      </p:pic>
      <p:cxnSp>
        <p:nvCxnSpPr>
          <p:cNvPr id="13" name="Straight Arrow Connector 12">
            <a:extLst>
              <a:ext uri="{FF2B5EF4-FFF2-40B4-BE49-F238E27FC236}">
                <a16:creationId xmlns:a16="http://schemas.microsoft.com/office/drawing/2014/main" id="{8467E561-382B-2AF6-EB50-737B0B6C86CC}"/>
              </a:ext>
            </a:extLst>
          </p:cNvPr>
          <p:cNvCxnSpPr/>
          <p:nvPr/>
        </p:nvCxnSpPr>
        <p:spPr>
          <a:xfrm>
            <a:off x="1076952" y="3622429"/>
            <a:ext cx="63304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5B628E0-1874-BC77-FBF8-A3132CB32491}"/>
              </a:ext>
            </a:extLst>
          </p:cNvPr>
          <p:cNvSpPr/>
          <p:nvPr/>
        </p:nvSpPr>
        <p:spPr>
          <a:xfrm>
            <a:off x="5513290" y="2028092"/>
            <a:ext cx="719941"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9.</a:t>
            </a:r>
          </a:p>
        </p:txBody>
      </p:sp>
      <p:sp>
        <p:nvSpPr>
          <p:cNvPr id="17" name="Rectangle 16">
            <a:extLst>
              <a:ext uri="{FF2B5EF4-FFF2-40B4-BE49-F238E27FC236}">
                <a16:creationId xmlns:a16="http://schemas.microsoft.com/office/drawing/2014/main" id="{083448E4-80F5-01A7-9F68-8E51976BF1DD}"/>
              </a:ext>
            </a:extLst>
          </p:cNvPr>
          <p:cNvSpPr/>
          <p:nvPr/>
        </p:nvSpPr>
        <p:spPr>
          <a:xfrm>
            <a:off x="5732586" y="4074043"/>
            <a:ext cx="1071448"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10.</a:t>
            </a:r>
          </a:p>
        </p:txBody>
      </p:sp>
      <p:sp>
        <p:nvSpPr>
          <p:cNvPr id="2" name="TextBox 1">
            <a:extLst>
              <a:ext uri="{FF2B5EF4-FFF2-40B4-BE49-F238E27FC236}">
                <a16:creationId xmlns:a16="http://schemas.microsoft.com/office/drawing/2014/main" id="{5BA725D8-0343-BE4E-E6DB-86711EC327C9}"/>
              </a:ext>
            </a:extLst>
          </p:cNvPr>
          <p:cNvSpPr txBox="1"/>
          <p:nvPr/>
        </p:nvSpPr>
        <p:spPr>
          <a:xfrm>
            <a:off x="6146337" y="2042718"/>
            <a:ext cx="3161786" cy="2031325"/>
          </a:xfrm>
          <a:prstGeom prst="rect">
            <a:avLst/>
          </a:prstGeom>
          <a:noFill/>
        </p:spPr>
        <p:txBody>
          <a:bodyPr wrap="square" rtlCol="0">
            <a:spAutoFit/>
          </a:bodyPr>
          <a:lstStyle/>
          <a:p>
            <a:r>
              <a:rPr lang="en-US" dirty="0"/>
              <a:t>The fifth prompt executes another print() function. However, this print() function does not include quotation marks around the characters, and those quotation marks are required. </a:t>
            </a:r>
          </a:p>
        </p:txBody>
      </p:sp>
      <p:sp>
        <p:nvSpPr>
          <p:cNvPr id="3" name="TextBox 2">
            <a:extLst>
              <a:ext uri="{FF2B5EF4-FFF2-40B4-BE49-F238E27FC236}">
                <a16:creationId xmlns:a16="http://schemas.microsoft.com/office/drawing/2014/main" id="{187CE773-242D-AFE8-4E73-ACDF80C38A42}"/>
              </a:ext>
            </a:extLst>
          </p:cNvPr>
          <p:cNvSpPr txBox="1"/>
          <p:nvPr/>
        </p:nvSpPr>
        <p:spPr>
          <a:xfrm>
            <a:off x="6624569" y="4224663"/>
            <a:ext cx="2847677" cy="1200329"/>
          </a:xfrm>
          <a:prstGeom prst="rect">
            <a:avLst/>
          </a:prstGeom>
          <a:noFill/>
        </p:spPr>
        <p:txBody>
          <a:bodyPr wrap="square" rtlCol="0">
            <a:spAutoFit/>
          </a:bodyPr>
          <a:lstStyle/>
          <a:p>
            <a:r>
              <a:rPr lang="en-US" dirty="0"/>
              <a:t>As a result, </a:t>
            </a:r>
            <a:r>
              <a:rPr lang="en-US" b="1" i="1" u="sng" dirty="0"/>
              <a:t>the shell displays</a:t>
            </a:r>
            <a:r>
              <a:rPr lang="en-US" dirty="0"/>
              <a:t> an </a:t>
            </a:r>
            <a:r>
              <a:rPr lang="en-US" b="1" i="1" u="sng" dirty="0"/>
              <a:t>error message </a:t>
            </a:r>
            <a:r>
              <a:rPr lang="en-US" dirty="0"/>
              <a:t>for a </a:t>
            </a:r>
            <a:r>
              <a:rPr lang="en-US" b="1" i="1" u="sng" dirty="0"/>
              <a:t>SyntaxError</a:t>
            </a:r>
            <a:r>
              <a:rPr lang="en-US" dirty="0"/>
              <a:t> that says “invalid syntax”</a:t>
            </a:r>
          </a:p>
        </p:txBody>
      </p:sp>
    </p:spTree>
    <p:extLst>
      <p:ext uri="{BB962C8B-B14F-4D97-AF65-F5344CB8AC3E}">
        <p14:creationId xmlns:p14="http://schemas.microsoft.com/office/powerpoint/2010/main" val="2920255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86CC9-A819-110A-48B0-27F24916869E}"/>
            </a:ext>
          </a:extLst>
        </p:cNvPr>
        <p:cNvGrpSpPr/>
        <p:nvPr/>
      </p:nvGrpSpPr>
      <p:grpSpPr>
        <a:xfrm>
          <a:off x="0" y="0"/>
          <a:ext cx="0" cy="0"/>
          <a:chOff x="0" y="0"/>
          <a:chExt cx="0" cy="0"/>
        </a:xfrm>
      </p:grpSpPr>
      <p:pic>
        <p:nvPicPr>
          <p:cNvPr id="11" name="Picture 10" descr="A screenshot of a computer program&#10;&#10;AI-generated content may be incorrect.">
            <a:extLst>
              <a:ext uri="{FF2B5EF4-FFF2-40B4-BE49-F238E27FC236}">
                <a16:creationId xmlns:a16="http://schemas.microsoft.com/office/drawing/2014/main" id="{9D9E4939-F7B7-AA79-EF35-068AC1A82C45}"/>
              </a:ext>
            </a:extLst>
          </p:cNvPr>
          <p:cNvPicPr>
            <a:picLocks noChangeAspect="1"/>
          </p:cNvPicPr>
          <p:nvPr/>
        </p:nvPicPr>
        <p:blipFill>
          <a:blip r:embed="rId3"/>
          <a:stretch>
            <a:fillRect/>
          </a:stretch>
        </p:blipFill>
        <p:spPr>
          <a:xfrm>
            <a:off x="1076952" y="198351"/>
            <a:ext cx="9038251" cy="6033226"/>
          </a:xfrm>
          <a:prstGeom prst="rect">
            <a:avLst/>
          </a:prstGeom>
        </p:spPr>
      </p:pic>
      <p:cxnSp>
        <p:nvCxnSpPr>
          <p:cNvPr id="13" name="Straight Arrow Connector 12">
            <a:extLst>
              <a:ext uri="{FF2B5EF4-FFF2-40B4-BE49-F238E27FC236}">
                <a16:creationId xmlns:a16="http://schemas.microsoft.com/office/drawing/2014/main" id="{133450E5-628E-FB2F-6032-12E15F0BE74D}"/>
              </a:ext>
            </a:extLst>
          </p:cNvPr>
          <p:cNvCxnSpPr/>
          <p:nvPr/>
        </p:nvCxnSpPr>
        <p:spPr>
          <a:xfrm>
            <a:off x="1076952" y="3962398"/>
            <a:ext cx="63304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523CD2B-D109-49CB-DD81-016D7C1C1B99}"/>
              </a:ext>
            </a:extLst>
          </p:cNvPr>
          <p:cNvSpPr/>
          <p:nvPr/>
        </p:nvSpPr>
        <p:spPr>
          <a:xfrm>
            <a:off x="5177947" y="1919412"/>
            <a:ext cx="1090363"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11</a:t>
            </a:r>
            <a:r>
              <a:rPr lang="en-US" sz="5400" b="0" cap="none" spc="0" dirty="0">
                <a:ln w="0"/>
                <a:solidFill>
                  <a:schemeClr val="tx1"/>
                </a:solidFill>
                <a:effectLst>
                  <a:outerShdw blurRad="38100" dist="19050" dir="2700000" algn="tl" rotWithShape="0">
                    <a:schemeClr val="dk1">
                      <a:alpha val="40000"/>
                    </a:schemeClr>
                  </a:outerShdw>
                </a:effectLst>
              </a:rPr>
              <a:t>.</a:t>
            </a:r>
          </a:p>
        </p:txBody>
      </p:sp>
      <p:sp>
        <p:nvSpPr>
          <p:cNvPr id="17" name="Rectangle 16">
            <a:extLst>
              <a:ext uri="{FF2B5EF4-FFF2-40B4-BE49-F238E27FC236}">
                <a16:creationId xmlns:a16="http://schemas.microsoft.com/office/drawing/2014/main" id="{640A316F-D790-0C4C-1F27-4D165999CCD6}"/>
              </a:ext>
            </a:extLst>
          </p:cNvPr>
          <p:cNvSpPr/>
          <p:nvPr/>
        </p:nvSpPr>
        <p:spPr>
          <a:xfrm>
            <a:off x="5723129" y="4074043"/>
            <a:ext cx="109036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12.</a:t>
            </a:r>
          </a:p>
        </p:txBody>
      </p:sp>
      <p:sp>
        <p:nvSpPr>
          <p:cNvPr id="2" name="TextBox 1">
            <a:extLst>
              <a:ext uri="{FF2B5EF4-FFF2-40B4-BE49-F238E27FC236}">
                <a16:creationId xmlns:a16="http://schemas.microsoft.com/office/drawing/2014/main" id="{1924240B-AAB0-BCDC-1D4D-E85FA737BC99}"/>
              </a:ext>
            </a:extLst>
          </p:cNvPr>
          <p:cNvSpPr txBox="1"/>
          <p:nvPr/>
        </p:nvSpPr>
        <p:spPr>
          <a:xfrm>
            <a:off x="6146337" y="2042718"/>
            <a:ext cx="3161786" cy="1477328"/>
          </a:xfrm>
          <a:prstGeom prst="rect">
            <a:avLst/>
          </a:prstGeom>
          <a:noFill/>
        </p:spPr>
        <p:txBody>
          <a:bodyPr wrap="square" rtlCol="0">
            <a:spAutoFit/>
          </a:bodyPr>
          <a:lstStyle/>
          <a:p>
            <a:r>
              <a:rPr lang="en-US" dirty="0"/>
              <a:t>The next two prompts show what happens when you </a:t>
            </a:r>
            <a:r>
              <a:rPr lang="en-US" b="1" i="1" u="sng" dirty="0"/>
              <a:t>set a variable</a:t>
            </a:r>
            <a:r>
              <a:rPr lang="en-US" dirty="0"/>
              <a:t> named x equal to 5 and then add 10 to that variable.</a:t>
            </a:r>
          </a:p>
        </p:txBody>
      </p:sp>
      <p:sp>
        <p:nvSpPr>
          <p:cNvPr id="3" name="TextBox 2">
            <a:extLst>
              <a:ext uri="{FF2B5EF4-FFF2-40B4-BE49-F238E27FC236}">
                <a16:creationId xmlns:a16="http://schemas.microsoft.com/office/drawing/2014/main" id="{DC2FE42B-C9EB-4D67-07C1-9C98EE10C2A1}"/>
              </a:ext>
            </a:extLst>
          </p:cNvPr>
          <p:cNvSpPr txBox="1"/>
          <p:nvPr/>
        </p:nvSpPr>
        <p:spPr>
          <a:xfrm>
            <a:off x="6624569" y="4224663"/>
            <a:ext cx="2847677" cy="369332"/>
          </a:xfrm>
          <a:prstGeom prst="rect">
            <a:avLst/>
          </a:prstGeom>
          <a:noFill/>
        </p:spPr>
        <p:txBody>
          <a:bodyPr wrap="square" rtlCol="0">
            <a:spAutoFit/>
          </a:bodyPr>
          <a:lstStyle/>
          <a:p>
            <a:r>
              <a:rPr lang="en-US" dirty="0"/>
              <a:t>The result is 15.</a:t>
            </a:r>
          </a:p>
        </p:txBody>
      </p:sp>
      <p:cxnSp>
        <p:nvCxnSpPr>
          <p:cNvPr id="4" name="Straight Arrow Connector 3">
            <a:extLst>
              <a:ext uri="{FF2B5EF4-FFF2-40B4-BE49-F238E27FC236}">
                <a16:creationId xmlns:a16="http://schemas.microsoft.com/office/drawing/2014/main" id="{EBCE6AEC-37F8-A2AC-F8ED-033CCDC8D861}"/>
              </a:ext>
            </a:extLst>
          </p:cNvPr>
          <p:cNvCxnSpPr/>
          <p:nvPr/>
        </p:nvCxnSpPr>
        <p:spPr>
          <a:xfrm>
            <a:off x="1076952" y="4201215"/>
            <a:ext cx="63304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7225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9F8B6-003C-0F76-3692-60E8E411A280}"/>
            </a:ext>
          </a:extLst>
        </p:cNvPr>
        <p:cNvGrpSpPr/>
        <p:nvPr/>
      </p:nvGrpSpPr>
      <p:grpSpPr>
        <a:xfrm>
          <a:off x="0" y="0"/>
          <a:ext cx="0" cy="0"/>
          <a:chOff x="0" y="0"/>
          <a:chExt cx="0" cy="0"/>
        </a:xfrm>
      </p:grpSpPr>
      <p:pic>
        <p:nvPicPr>
          <p:cNvPr id="11" name="Picture 10" descr="A screenshot of a computer program&#10;&#10;AI-generated content may be incorrect.">
            <a:extLst>
              <a:ext uri="{FF2B5EF4-FFF2-40B4-BE49-F238E27FC236}">
                <a16:creationId xmlns:a16="http://schemas.microsoft.com/office/drawing/2014/main" id="{32155B28-B6E9-D919-140E-7B12C0DD48BA}"/>
              </a:ext>
            </a:extLst>
          </p:cNvPr>
          <p:cNvPicPr>
            <a:picLocks noChangeAspect="1"/>
          </p:cNvPicPr>
          <p:nvPr/>
        </p:nvPicPr>
        <p:blipFill>
          <a:blip r:embed="rId3"/>
          <a:stretch>
            <a:fillRect/>
          </a:stretch>
        </p:blipFill>
        <p:spPr>
          <a:xfrm>
            <a:off x="1076952" y="198351"/>
            <a:ext cx="9038251" cy="6033226"/>
          </a:xfrm>
          <a:prstGeom prst="rect">
            <a:avLst/>
          </a:prstGeom>
        </p:spPr>
      </p:pic>
      <p:cxnSp>
        <p:nvCxnSpPr>
          <p:cNvPr id="13" name="Straight Arrow Connector 12">
            <a:extLst>
              <a:ext uri="{FF2B5EF4-FFF2-40B4-BE49-F238E27FC236}">
                <a16:creationId xmlns:a16="http://schemas.microsoft.com/office/drawing/2014/main" id="{8588BF44-ED3C-B176-CE99-CCAE7B96B36C}"/>
              </a:ext>
            </a:extLst>
          </p:cNvPr>
          <p:cNvCxnSpPr/>
          <p:nvPr/>
        </p:nvCxnSpPr>
        <p:spPr>
          <a:xfrm>
            <a:off x="1076952" y="4571998"/>
            <a:ext cx="63304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259767F-331E-574D-2697-F0CDFC1B0060}"/>
              </a:ext>
            </a:extLst>
          </p:cNvPr>
          <p:cNvSpPr/>
          <p:nvPr/>
        </p:nvSpPr>
        <p:spPr>
          <a:xfrm>
            <a:off x="5177947" y="1919412"/>
            <a:ext cx="1090363"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11</a:t>
            </a:r>
            <a:r>
              <a:rPr lang="en-US" sz="5400" b="0" cap="none" spc="0" dirty="0">
                <a:ln w="0"/>
                <a:solidFill>
                  <a:schemeClr val="tx1"/>
                </a:solidFill>
                <a:effectLst>
                  <a:outerShdw blurRad="38100" dist="19050" dir="2700000" algn="tl" rotWithShape="0">
                    <a:schemeClr val="dk1">
                      <a:alpha val="40000"/>
                    </a:schemeClr>
                  </a:outerShdw>
                </a:effectLst>
              </a:rPr>
              <a:t>.</a:t>
            </a:r>
          </a:p>
        </p:txBody>
      </p:sp>
      <p:sp>
        <p:nvSpPr>
          <p:cNvPr id="2" name="TextBox 1">
            <a:extLst>
              <a:ext uri="{FF2B5EF4-FFF2-40B4-BE49-F238E27FC236}">
                <a16:creationId xmlns:a16="http://schemas.microsoft.com/office/drawing/2014/main" id="{BB9CC758-5450-F0F5-3A7D-E52FCC699C83}"/>
              </a:ext>
            </a:extLst>
          </p:cNvPr>
          <p:cNvSpPr txBox="1"/>
          <p:nvPr/>
        </p:nvSpPr>
        <p:spPr>
          <a:xfrm>
            <a:off x="6146337" y="2042718"/>
            <a:ext cx="3161786" cy="3693319"/>
          </a:xfrm>
          <a:prstGeom prst="rect">
            <a:avLst/>
          </a:prstGeom>
          <a:noFill/>
        </p:spPr>
        <p:txBody>
          <a:bodyPr wrap="square" rtlCol="0">
            <a:spAutoFit/>
          </a:bodyPr>
          <a:lstStyle/>
          <a:p>
            <a:r>
              <a:rPr lang="en-US" dirty="0"/>
              <a:t>The last statement attempts to 15 to X. This displays a </a:t>
            </a:r>
            <a:r>
              <a:rPr lang="en-US" b="1" i="1" u="sng" dirty="0"/>
              <a:t>NameError message </a:t>
            </a:r>
            <a:r>
              <a:rPr lang="en-US" dirty="0"/>
              <a:t>that says “name ‘X’ is not defined”. That’s because </a:t>
            </a:r>
            <a:r>
              <a:rPr lang="en-US" b="1" i="1" u="sng" dirty="0"/>
              <a:t>variables </a:t>
            </a:r>
            <a:r>
              <a:rPr lang="en-US" dirty="0"/>
              <a:t>names are </a:t>
            </a:r>
            <a:r>
              <a:rPr lang="en-US" b="1" i="1" u="sng" dirty="0"/>
              <a:t>case sensitive</a:t>
            </a:r>
            <a:r>
              <a:rPr lang="en-US" dirty="0"/>
              <a:t>, so x and X refer to two different variables. The variable named x has been defined earlier in the session, but the variable named X has not been defined yet in this session. </a:t>
            </a:r>
          </a:p>
        </p:txBody>
      </p:sp>
    </p:spTree>
    <p:extLst>
      <p:ext uri="{BB962C8B-B14F-4D97-AF65-F5344CB8AC3E}">
        <p14:creationId xmlns:p14="http://schemas.microsoft.com/office/powerpoint/2010/main" val="3266317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A093-E00B-31E9-0A13-71142E30E57C}"/>
              </a:ext>
            </a:extLst>
          </p:cNvPr>
          <p:cNvSpPr>
            <a:spLocks noGrp="1"/>
          </p:cNvSpPr>
          <p:nvPr>
            <p:ph type="ctrTitle"/>
          </p:nvPr>
        </p:nvSpPr>
        <p:spPr>
          <a:xfrm>
            <a:off x="1026817" y="1537430"/>
            <a:ext cx="6245912" cy="3269447"/>
          </a:xfrm>
        </p:spPr>
        <p:txBody>
          <a:bodyPr/>
          <a:lstStyle/>
          <a:p>
            <a:r>
              <a:rPr lang="en-US" dirty="0"/>
              <a:t>Use the interactive shell to work with source files</a:t>
            </a:r>
          </a:p>
        </p:txBody>
      </p:sp>
    </p:spTree>
    <p:extLst>
      <p:ext uri="{BB962C8B-B14F-4D97-AF65-F5344CB8AC3E}">
        <p14:creationId xmlns:p14="http://schemas.microsoft.com/office/powerpoint/2010/main" val="4117153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F58C-138C-55F4-DA77-4C3F06C81A1C}"/>
              </a:ext>
            </a:extLst>
          </p:cNvPr>
          <p:cNvSpPr>
            <a:spLocks noGrp="1"/>
          </p:cNvSpPr>
          <p:nvPr>
            <p:ph type="title"/>
          </p:nvPr>
        </p:nvSpPr>
        <p:spPr>
          <a:xfrm>
            <a:off x="1167492" y="457200"/>
            <a:ext cx="10643508" cy="1371600"/>
          </a:xfrm>
        </p:spPr>
        <p:txBody>
          <a:bodyPr/>
          <a:lstStyle/>
          <a:p>
            <a:r>
              <a:rPr lang="en-US" dirty="0"/>
              <a:t>Train your motors kills</a:t>
            </a:r>
          </a:p>
        </p:txBody>
      </p:sp>
      <p:sp>
        <p:nvSpPr>
          <p:cNvPr id="3" name="Content Placeholder 2">
            <a:extLst>
              <a:ext uri="{FF2B5EF4-FFF2-40B4-BE49-F238E27FC236}">
                <a16:creationId xmlns:a16="http://schemas.microsoft.com/office/drawing/2014/main" id="{9B5DDE7C-335B-FD23-E1E6-CDCB99B7878C}"/>
              </a:ext>
            </a:extLst>
          </p:cNvPr>
          <p:cNvSpPr>
            <a:spLocks noGrp="1"/>
          </p:cNvSpPr>
          <p:nvPr>
            <p:ph idx="15"/>
          </p:nvPr>
        </p:nvSpPr>
        <p:spPr>
          <a:xfrm>
            <a:off x="1166813" y="2652713"/>
            <a:ext cx="5394325" cy="3436937"/>
          </a:xfrm>
        </p:spPr>
        <p:txBody>
          <a:bodyPr/>
          <a:lstStyle/>
          <a:p>
            <a:r>
              <a:rPr lang="en-US" dirty="0"/>
              <a:t>Close your IDLE and start over </a:t>
            </a:r>
          </a:p>
          <a:p>
            <a:endParaRPr lang="en-US" dirty="0"/>
          </a:p>
          <a:p>
            <a:r>
              <a:rPr lang="en-US" dirty="0"/>
              <a:t>Reopen the IDLE</a:t>
            </a:r>
          </a:p>
        </p:txBody>
      </p:sp>
      <p:pic>
        <p:nvPicPr>
          <p:cNvPr id="7" name="Picture Placeholder 6" descr="Dance steps with solid fill">
            <a:extLst>
              <a:ext uri="{FF2B5EF4-FFF2-40B4-BE49-F238E27FC236}">
                <a16:creationId xmlns:a16="http://schemas.microsoft.com/office/drawing/2014/main" id="{502C3E8E-FBF4-82C0-2BA7-3E23507514BC}"/>
              </a:ext>
            </a:extLst>
          </p:cNvPr>
          <p:cNvPicPr>
            <a:picLocks noGrp="1" noChangeAspect="1"/>
          </p:cNvPicPr>
          <p:nvPr>
            <p:ph type="pic" sz="quarter" idx="14"/>
          </p:nvPr>
        </p:nvPicPr>
        <p:blipFill>
          <a:blip r:embed="rId3">
            <a:extLst>
              <a:ext uri="{96DAC541-7B7A-43D3-8B79-37D633B846F1}">
                <asvg:svgBlip xmlns:asvg="http://schemas.microsoft.com/office/drawing/2016/SVG/main" r:embed="rId4"/>
              </a:ext>
            </a:extLst>
          </a:blip>
          <a:srcRect/>
          <a:stretch>
            <a:fillRect/>
          </a:stretch>
        </p:blipFill>
        <p:spPr/>
      </p:pic>
    </p:spTree>
    <p:extLst>
      <p:ext uri="{BB962C8B-B14F-4D97-AF65-F5344CB8AC3E}">
        <p14:creationId xmlns:p14="http://schemas.microsoft.com/office/powerpoint/2010/main" val="362649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2FA0-5805-E9D5-E5A1-5B4B485CB096}"/>
              </a:ext>
            </a:extLst>
          </p:cNvPr>
          <p:cNvSpPr>
            <a:spLocks noGrp="1"/>
          </p:cNvSpPr>
          <p:nvPr>
            <p:ph type="title"/>
          </p:nvPr>
        </p:nvSpPr>
        <p:spPr>
          <a:xfrm>
            <a:off x="1167492" y="457200"/>
            <a:ext cx="9692640" cy="1371600"/>
          </a:xfrm>
        </p:spPr>
        <p:txBody>
          <a:bodyPr/>
          <a:lstStyle/>
          <a:p>
            <a:r>
              <a:rPr lang="en-US" dirty="0"/>
              <a:t>Working with the IDLE and a source file/ source code</a:t>
            </a:r>
          </a:p>
        </p:txBody>
      </p:sp>
      <p:sp>
        <p:nvSpPr>
          <p:cNvPr id="4" name="Content Placeholder 3">
            <a:extLst>
              <a:ext uri="{FF2B5EF4-FFF2-40B4-BE49-F238E27FC236}">
                <a16:creationId xmlns:a16="http://schemas.microsoft.com/office/drawing/2014/main" id="{EAE9A705-E123-1C6C-EC93-CEE377B741CC}"/>
              </a:ext>
            </a:extLst>
          </p:cNvPr>
          <p:cNvSpPr>
            <a:spLocks noGrp="1"/>
          </p:cNvSpPr>
          <p:nvPr>
            <p:ph idx="10"/>
          </p:nvPr>
        </p:nvSpPr>
        <p:spPr>
          <a:xfrm>
            <a:off x="1167493" y="2087561"/>
            <a:ext cx="2693306" cy="3890543"/>
          </a:xfrm>
        </p:spPr>
        <p:txBody>
          <a:bodyPr/>
          <a:lstStyle/>
          <a:p>
            <a:endParaRPr lang="en-US" dirty="0"/>
          </a:p>
          <a:p>
            <a:endParaRPr lang="en-US" dirty="0"/>
          </a:p>
        </p:txBody>
      </p:sp>
      <p:pic>
        <p:nvPicPr>
          <p:cNvPr id="8" name="Picture 7">
            <a:extLst>
              <a:ext uri="{FF2B5EF4-FFF2-40B4-BE49-F238E27FC236}">
                <a16:creationId xmlns:a16="http://schemas.microsoft.com/office/drawing/2014/main" id="{892D86DA-5BCE-CA92-1719-186D459966FD}"/>
              </a:ext>
            </a:extLst>
          </p:cNvPr>
          <p:cNvPicPr>
            <a:picLocks noChangeAspect="1"/>
          </p:cNvPicPr>
          <p:nvPr/>
        </p:nvPicPr>
        <p:blipFill>
          <a:blip r:embed="rId3"/>
          <a:stretch>
            <a:fillRect/>
          </a:stretch>
        </p:blipFill>
        <p:spPr>
          <a:xfrm>
            <a:off x="8897443" y="3135604"/>
            <a:ext cx="1806097" cy="586791"/>
          </a:xfrm>
          <a:prstGeom prst="rect">
            <a:avLst/>
          </a:prstGeom>
        </p:spPr>
      </p:pic>
      <p:sp>
        <p:nvSpPr>
          <p:cNvPr id="9" name="Content Placeholder 2">
            <a:extLst>
              <a:ext uri="{FF2B5EF4-FFF2-40B4-BE49-F238E27FC236}">
                <a16:creationId xmlns:a16="http://schemas.microsoft.com/office/drawing/2014/main" id="{0FC61546-9DC0-F47E-2E39-9BEE3F95D16E}"/>
              </a:ext>
            </a:extLst>
          </p:cNvPr>
          <p:cNvSpPr txBox="1">
            <a:spLocks/>
          </p:cNvSpPr>
          <p:nvPr/>
        </p:nvSpPr>
        <p:spPr>
          <a:xfrm>
            <a:off x="1166813" y="2652713"/>
            <a:ext cx="9780587" cy="3436937"/>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Download the file “future_value.py” from canvas week 1</a:t>
            </a:r>
          </a:p>
          <a:p>
            <a:r>
              <a:rPr lang="en-US" dirty="0"/>
              <a:t>Use the IDLE shell to open this downloaded file.</a:t>
            </a:r>
          </a:p>
          <a:p>
            <a:r>
              <a:rPr lang="en-US" dirty="0"/>
              <a:t>Source code defined: </a:t>
            </a:r>
            <a:r>
              <a:rPr lang="en-US" b="0" i="0" dirty="0">
                <a:effectLst/>
                <a:latin typeface="Google Sans"/>
              </a:rPr>
              <a:t>In programming, a source file is a plain </a:t>
            </a:r>
            <a:r>
              <a:rPr lang="en-US" b="1" i="1" u="sng" dirty="0">
                <a:effectLst/>
                <a:latin typeface="Google Sans"/>
              </a:rPr>
              <a:t>text file </a:t>
            </a:r>
            <a:r>
              <a:rPr lang="en-US" b="0" i="0" dirty="0">
                <a:effectLst/>
                <a:latin typeface="Google Sans"/>
              </a:rPr>
              <a:t>that contains the instructions, logic, and algorithms that make up a </a:t>
            </a:r>
            <a:r>
              <a:rPr lang="en-US" b="1" i="1" u="sng" dirty="0">
                <a:effectLst/>
                <a:latin typeface="Google Sans"/>
              </a:rPr>
              <a:t>program</a:t>
            </a:r>
            <a:r>
              <a:rPr lang="en-US" b="0" i="0" dirty="0">
                <a:effectLst/>
                <a:latin typeface="Google Sans"/>
              </a:rPr>
              <a:t>. It's essentially the code written by a programmer, in a human-readable format, that is then translated into a machine-executable format (like binary or object code) by a compiler or interpreter. </a:t>
            </a:r>
            <a:endParaRPr lang="en-US" dirty="0"/>
          </a:p>
          <a:p>
            <a:pPr marL="0" indent="0">
              <a:buNone/>
            </a:pPr>
            <a:endParaRPr lang="en-US" dirty="0"/>
          </a:p>
        </p:txBody>
      </p:sp>
    </p:spTree>
    <p:extLst>
      <p:ext uri="{BB962C8B-B14F-4D97-AF65-F5344CB8AC3E}">
        <p14:creationId xmlns:p14="http://schemas.microsoft.com/office/powerpoint/2010/main" val="907915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8248D-EDE7-7D0B-D2AA-B2D82C16BE5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B46E655-0E9E-ACEE-E298-B6A71B240038}"/>
              </a:ext>
            </a:extLst>
          </p:cNvPr>
          <p:cNvSpPr>
            <a:spLocks noGrp="1"/>
          </p:cNvSpPr>
          <p:nvPr>
            <p:ph idx="10"/>
          </p:nvPr>
        </p:nvSpPr>
        <p:spPr>
          <a:xfrm>
            <a:off x="1167493" y="2087561"/>
            <a:ext cx="2693306" cy="3890543"/>
          </a:xfrm>
        </p:spPr>
        <p:txBody>
          <a:bodyPr/>
          <a:lstStyle/>
          <a:p>
            <a:endParaRPr lang="en-US" dirty="0"/>
          </a:p>
          <a:p>
            <a:endParaRPr lang="en-US" dirty="0"/>
          </a:p>
        </p:txBody>
      </p:sp>
      <p:pic>
        <p:nvPicPr>
          <p:cNvPr id="7" name="Picture 6">
            <a:extLst>
              <a:ext uri="{FF2B5EF4-FFF2-40B4-BE49-F238E27FC236}">
                <a16:creationId xmlns:a16="http://schemas.microsoft.com/office/drawing/2014/main" id="{81FE07F1-6462-3739-9E97-E97AB6ABC600}"/>
              </a:ext>
            </a:extLst>
          </p:cNvPr>
          <p:cNvPicPr>
            <a:picLocks noChangeAspect="1"/>
          </p:cNvPicPr>
          <p:nvPr/>
        </p:nvPicPr>
        <p:blipFill>
          <a:blip r:embed="rId3"/>
          <a:stretch>
            <a:fillRect/>
          </a:stretch>
        </p:blipFill>
        <p:spPr>
          <a:xfrm>
            <a:off x="574432" y="719878"/>
            <a:ext cx="10257111" cy="5418244"/>
          </a:xfrm>
          <a:prstGeom prst="rect">
            <a:avLst/>
          </a:prstGeom>
        </p:spPr>
      </p:pic>
      <p:sp>
        <p:nvSpPr>
          <p:cNvPr id="10" name="TextBox 9">
            <a:extLst>
              <a:ext uri="{FF2B5EF4-FFF2-40B4-BE49-F238E27FC236}">
                <a16:creationId xmlns:a16="http://schemas.microsoft.com/office/drawing/2014/main" id="{B0EF12B3-159F-532B-788C-E9E61F7E8F9D}"/>
              </a:ext>
            </a:extLst>
          </p:cNvPr>
          <p:cNvSpPr txBox="1"/>
          <p:nvPr/>
        </p:nvSpPr>
        <p:spPr>
          <a:xfrm>
            <a:off x="2321169" y="2450123"/>
            <a:ext cx="2579077" cy="369332"/>
          </a:xfrm>
          <a:prstGeom prst="rect">
            <a:avLst/>
          </a:prstGeom>
          <a:noFill/>
          <a:ln>
            <a:solidFill>
              <a:schemeClr val="accent1"/>
            </a:solidFill>
          </a:ln>
        </p:spPr>
        <p:txBody>
          <a:bodyPr wrap="square" rtlCol="0">
            <a:spAutoFit/>
          </a:bodyPr>
          <a:lstStyle/>
          <a:p>
            <a:r>
              <a:rPr lang="en-US" dirty="0"/>
              <a:t>IDLE’s </a:t>
            </a:r>
            <a:r>
              <a:rPr lang="en-US" b="1" i="1" u="sng" dirty="0"/>
              <a:t>editor window</a:t>
            </a:r>
          </a:p>
        </p:txBody>
      </p:sp>
      <p:cxnSp>
        <p:nvCxnSpPr>
          <p:cNvPr id="12" name="Straight Arrow Connector 11">
            <a:extLst>
              <a:ext uri="{FF2B5EF4-FFF2-40B4-BE49-F238E27FC236}">
                <a16:creationId xmlns:a16="http://schemas.microsoft.com/office/drawing/2014/main" id="{E01639E1-C0A5-71EA-B398-B986F8B5591D}"/>
              </a:ext>
            </a:extLst>
          </p:cNvPr>
          <p:cNvCxnSpPr>
            <a:stCxn id="10" idx="3"/>
          </p:cNvCxnSpPr>
          <p:nvPr/>
        </p:nvCxnSpPr>
        <p:spPr>
          <a:xfrm flipV="1">
            <a:off x="4900246" y="2614246"/>
            <a:ext cx="644769" cy="205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5074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F2C79-94D8-131A-BFCF-A90A22100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CEEB6-3165-B03D-FDB3-EF2F9105F982}"/>
              </a:ext>
            </a:extLst>
          </p:cNvPr>
          <p:cNvSpPr>
            <a:spLocks noGrp="1"/>
          </p:cNvSpPr>
          <p:nvPr>
            <p:ph type="title"/>
          </p:nvPr>
        </p:nvSpPr>
        <p:spPr>
          <a:xfrm>
            <a:off x="1167492" y="457200"/>
            <a:ext cx="9692640" cy="1371600"/>
          </a:xfrm>
        </p:spPr>
        <p:txBody>
          <a:bodyPr/>
          <a:lstStyle/>
          <a:p>
            <a:r>
              <a:rPr lang="en-US" dirty="0"/>
              <a:t>The Editor</a:t>
            </a:r>
          </a:p>
        </p:txBody>
      </p:sp>
      <p:sp>
        <p:nvSpPr>
          <p:cNvPr id="4" name="Content Placeholder 3">
            <a:extLst>
              <a:ext uri="{FF2B5EF4-FFF2-40B4-BE49-F238E27FC236}">
                <a16:creationId xmlns:a16="http://schemas.microsoft.com/office/drawing/2014/main" id="{86199C4D-0F46-2B28-18F9-8599F753198B}"/>
              </a:ext>
            </a:extLst>
          </p:cNvPr>
          <p:cNvSpPr>
            <a:spLocks noGrp="1"/>
          </p:cNvSpPr>
          <p:nvPr>
            <p:ph idx="10"/>
          </p:nvPr>
        </p:nvSpPr>
        <p:spPr>
          <a:xfrm>
            <a:off x="1167493" y="2087561"/>
            <a:ext cx="2693306" cy="3890543"/>
          </a:xfrm>
        </p:spPr>
        <p:txBody>
          <a:bodyPr/>
          <a:lstStyle/>
          <a:p>
            <a:endParaRPr lang="en-US" dirty="0"/>
          </a:p>
          <a:p>
            <a:endParaRPr lang="en-US" dirty="0"/>
          </a:p>
        </p:txBody>
      </p:sp>
      <p:sp>
        <p:nvSpPr>
          <p:cNvPr id="9" name="Content Placeholder 2">
            <a:extLst>
              <a:ext uri="{FF2B5EF4-FFF2-40B4-BE49-F238E27FC236}">
                <a16:creationId xmlns:a16="http://schemas.microsoft.com/office/drawing/2014/main" id="{22036807-3636-9EC1-7654-B684ACEA83A5}"/>
              </a:ext>
            </a:extLst>
          </p:cNvPr>
          <p:cNvSpPr txBox="1">
            <a:spLocks/>
          </p:cNvSpPr>
          <p:nvPr/>
        </p:nvSpPr>
        <p:spPr>
          <a:xfrm>
            <a:off x="721210" y="2087561"/>
            <a:ext cx="4683002" cy="3436937"/>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editor works as a simple word processor (Microsoft Word, Text, Notepad, </a:t>
            </a:r>
            <a:r>
              <a:rPr lang="en-US" dirty="0" err="1"/>
              <a:t>etc</a:t>
            </a:r>
            <a:r>
              <a:rPr lang="en-US" dirty="0"/>
              <a:t>)</a:t>
            </a:r>
          </a:p>
          <a:p>
            <a:r>
              <a:rPr lang="en-US" dirty="0"/>
              <a:t>You may edit the source code for a program using same techniques.</a:t>
            </a:r>
          </a:p>
          <a:p>
            <a:pPr lvl="1"/>
            <a:r>
              <a:rPr lang="en-US" dirty="0"/>
              <a:t>Examples: </a:t>
            </a:r>
            <a:r>
              <a:rPr lang="en-US" dirty="0" err="1"/>
              <a:t>Ctrl+X</a:t>
            </a:r>
            <a:r>
              <a:rPr lang="en-US" dirty="0"/>
              <a:t>, </a:t>
            </a:r>
            <a:r>
              <a:rPr lang="en-US" dirty="0" err="1"/>
              <a:t>Ctrl+C</a:t>
            </a:r>
            <a:r>
              <a:rPr lang="en-US" dirty="0"/>
              <a:t>, </a:t>
            </a:r>
            <a:r>
              <a:rPr lang="en-US" dirty="0" err="1"/>
              <a:t>Ctrl+V</a:t>
            </a:r>
            <a:r>
              <a:rPr lang="en-US" dirty="0"/>
              <a:t>, </a:t>
            </a:r>
            <a:r>
              <a:rPr lang="en-US" dirty="0" err="1"/>
              <a:t>Ctrl+Z</a:t>
            </a:r>
            <a:r>
              <a:rPr lang="en-US" dirty="0"/>
              <a:t>, etc. </a:t>
            </a:r>
          </a:p>
          <a:p>
            <a:pPr lvl="1"/>
            <a:r>
              <a:rPr lang="en-US" dirty="0"/>
              <a:t>Commands in File menu</a:t>
            </a:r>
          </a:p>
          <a:p>
            <a:pPr lvl="1"/>
            <a:r>
              <a:rPr lang="en-US" dirty="0"/>
              <a:t>Check out edit and format</a:t>
            </a:r>
          </a:p>
          <a:p>
            <a:pPr lvl="1"/>
            <a:r>
              <a:rPr lang="en-US" dirty="0"/>
              <a:t>Save as</a:t>
            </a:r>
          </a:p>
        </p:txBody>
      </p:sp>
      <p:pic>
        <p:nvPicPr>
          <p:cNvPr id="5" name="Picture 4">
            <a:extLst>
              <a:ext uri="{FF2B5EF4-FFF2-40B4-BE49-F238E27FC236}">
                <a16:creationId xmlns:a16="http://schemas.microsoft.com/office/drawing/2014/main" id="{70946DF1-0207-5965-FAFE-D4489EE4FA48}"/>
              </a:ext>
            </a:extLst>
          </p:cNvPr>
          <p:cNvPicPr>
            <a:picLocks noChangeAspect="1"/>
          </p:cNvPicPr>
          <p:nvPr/>
        </p:nvPicPr>
        <p:blipFill>
          <a:blip r:embed="rId3"/>
          <a:stretch>
            <a:fillRect/>
          </a:stretch>
        </p:blipFill>
        <p:spPr>
          <a:xfrm>
            <a:off x="5628894" y="0"/>
            <a:ext cx="6563106" cy="6858000"/>
          </a:xfrm>
          <a:prstGeom prst="rect">
            <a:avLst/>
          </a:prstGeom>
        </p:spPr>
      </p:pic>
    </p:spTree>
    <p:extLst>
      <p:ext uri="{BB962C8B-B14F-4D97-AF65-F5344CB8AC3E}">
        <p14:creationId xmlns:p14="http://schemas.microsoft.com/office/powerpoint/2010/main" val="380028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B5F3D-F2ED-F8B1-0B2C-DB9937AE30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87693-8715-0E27-725C-EBA543889964}"/>
              </a:ext>
            </a:extLst>
          </p:cNvPr>
          <p:cNvSpPr>
            <a:spLocks noGrp="1"/>
          </p:cNvSpPr>
          <p:nvPr>
            <p:ph type="title"/>
          </p:nvPr>
        </p:nvSpPr>
        <p:spPr>
          <a:xfrm>
            <a:off x="1167492" y="457200"/>
            <a:ext cx="3814816" cy="1371600"/>
          </a:xfrm>
        </p:spPr>
        <p:txBody>
          <a:bodyPr/>
          <a:lstStyle/>
          <a:p>
            <a:r>
              <a:rPr lang="en-US" dirty="0"/>
              <a:t>Compile and run a program</a:t>
            </a:r>
          </a:p>
        </p:txBody>
      </p:sp>
      <p:sp>
        <p:nvSpPr>
          <p:cNvPr id="4" name="Content Placeholder 3">
            <a:extLst>
              <a:ext uri="{FF2B5EF4-FFF2-40B4-BE49-F238E27FC236}">
                <a16:creationId xmlns:a16="http://schemas.microsoft.com/office/drawing/2014/main" id="{E47CA11B-F022-1D87-D68F-86121612C313}"/>
              </a:ext>
            </a:extLst>
          </p:cNvPr>
          <p:cNvSpPr>
            <a:spLocks noGrp="1"/>
          </p:cNvSpPr>
          <p:nvPr>
            <p:ph idx="10"/>
          </p:nvPr>
        </p:nvSpPr>
        <p:spPr>
          <a:xfrm>
            <a:off x="1167493" y="2087561"/>
            <a:ext cx="2693306" cy="3890543"/>
          </a:xfrm>
        </p:spPr>
        <p:txBody>
          <a:bodyPr/>
          <a:lstStyle/>
          <a:p>
            <a:endParaRPr lang="en-US" dirty="0"/>
          </a:p>
          <a:p>
            <a:endParaRPr lang="en-US" dirty="0"/>
          </a:p>
        </p:txBody>
      </p:sp>
      <p:sp>
        <p:nvSpPr>
          <p:cNvPr id="9" name="Content Placeholder 2">
            <a:extLst>
              <a:ext uri="{FF2B5EF4-FFF2-40B4-BE49-F238E27FC236}">
                <a16:creationId xmlns:a16="http://schemas.microsoft.com/office/drawing/2014/main" id="{F6A993CF-A5FA-20CB-0C78-90A692AE5BBD}"/>
              </a:ext>
            </a:extLst>
          </p:cNvPr>
          <p:cNvSpPr txBox="1">
            <a:spLocks/>
          </p:cNvSpPr>
          <p:nvPr/>
        </p:nvSpPr>
        <p:spPr>
          <a:xfrm>
            <a:off x="721210" y="2087561"/>
            <a:ext cx="4261098" cy="3738808"/>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Simply press F5 key</a:t>
            </a:r>
          </a:p>
          <a:p>
            <a:pPr lvl="1"/>
            <a:r>
              <a:rPr lang="en-US" dirty="0"/>
              <a:t>Python compiles the source code into bytecode and runs it (it’s ran the computers operating system). </a:t>
            </a:r>
          </a:p>
          <a:p>
            <a:r>
              <a:rPr lang="en-US" dirty="0"/>
              <a:t>The compilation process is done automatically with the push of a key when you are using an IDE to develop your Python programs</a:t>
            </a:r>
          </a:p>
        </p:txBody>
      </p:sp>
      <p:pic>
        <p:nvPicPr>
          <p:cNvPr id="6" name="Picture 5">
            <a:extLst>
              <a:ext uri="{FF2B5EF4-FFF2-40B4-BE49-F238E27FC236}">
                <a16:creationId xmlns:a16="http://schemas.microsoft.com/office/drawing/2014/main" id="{2EE36727-1BB3-2BB5-91C0-5C4C29B2EA9A}"/>
              </a:ext>
            </a:extLst>
          </p:cNvPr>
          <p:cNvPicPr>
            <a:picLocks noChangeAspect="1"/>
          </p:cNvPicPr>
          <p:nvPr/>
        </p:nvPicPr>
        <p:blipFill>
          <a:blip r:embed="rId3"/>
          <a:stretch>
            <a:fillRect/>
          </a:stretch>
        </p:blipFill>
        <p:spPr>
          <a:xfrm>
            <a:off x="5404212" y="198936"/>
            <a:ext cx="6645216" cy="4115157"/>
          </a:xfrm>
          <a:prstGeom prst="rect">
            <a:avLst/>
          </a:prstGeom>
        </p:spPr>
      </p:pic>
      <p:pic>
        <p:nvPicPr>
          <p:cNvPr id="7" name="Picture 6">
            <a:extLst>
              <a:ext uri="{FF2B5EF4-FFF2-40B4-BE49-F238E27FC236}">
                <a16:creationId xmlns:a16="http://schemas.microsoft.com/office/drawing/2014/main" id="{A34C5ABF-5F58-A2C5-5BB4-BA8C53308D91}"/>
              </a:ext>
            </a:extLst>
          </p:cNvPr>
          <p:cNvPicPr>
            <a:picLocks noChangeAspect="1"/>
          </p:cNvPicPr>
          <p:nvPr/>
        </p:nvPicPr>
        <p:blipFill>
          <a:blip r:embed="rId4"/>
          <a:stretch>
            <a:fillRect/>
          </a:stretch>
        </p:blipFill>
        <p:spPr>
          <a:xfrm>
            <a:off x="9757480" y="0"/>
            <a:ext cx="2434520" cy="2543908"/>
          </a:xfrm>
          <a:prstGeom prst="rect">
            <a:avLst/>
          </a:prstGeom>
        </p:spPr>
      </p:pic>
      <p:pic>
        <p:nvPicPr>
          <p:cNvPr id="10" name="Picture 9">
            <a:extLst>
              <a:ext uri="{FF2B5EF4-FFF2-40B4-BE49-F238E27FC236}">
                <a16:creationId xmlns:a16="http://schemas.microsoft.com/office/drawing/2014/main" id="{B60BCE15-C598-3587-5ECF-F96C6F072BEC}"/>
              </a:ext>
            </a:extLst>
          </p:cNvPr>
          <p:cNvPicPr>
            <a:picLocks noChangeAspect="1"/>
          </p:cNvPicPr>
          <p:nvPr/>
        </p:nvPicPr>
        <p:blipFill>
          <a:blip r:embed="rId5"/>
          <a:stretch>
            <a:fillRect/>
          </a:stretch>
        </p:blipFill>
        <p:spPr>
          <a:xfrm>
            <a:off x="5404212" y="4314093"/>
            <a:ext cx="6645216" cy="1661304"/>
          </a:xfrm>
          <a:prstGeom prst="rect">
            <a:avLst/>
          </a:prstGeom>
        </p:spPr>
      </p:pic>
    </p:spTree>
    <p:extLst>
      <p:ext uri="{BB962C8B-B14F-4D97-AF65-F5344CB8AC3E}">
        <p14:creationId xmlns:p14="http://schemas.microsoft.com/office/powerpoint/2010/main" val="336101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A26BA-1333-5F82-B112-DBD98A3A5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198F2-D0A9-503A-67B7-30097F05E069}"/>
              </a:ext>
            </a:extLst>
          </p:cNvPr>
          <p:cNvSpPr>
            <a:spLocks noGrp="1"/>
          </p:cNvSpPr>
          <p:nvPr>
            <p:ph type="title"/>
          </p:nvPr>
        </p:nvSpPr>
        <p:spPr>
          <a:xfrm>
            <a:off x="1167492" y="457200"/>
            <a:ext cx="8715062" cy="1371600"/>
          </a:xfrm>
        </p:spPr>
        <p:txBody>
          <a:bodyPr/>
          <a:lstStyle/>
          <a:p>
            <a:r>
              <a:rPr lang="en-US" dirty="0"/>
              <a:t>Fix </a:t>
            </a:r>
            <a:r>
              <a:rPr lang="en-US" i="1" u="sng" dirty="0"/>
              <a:t>syntax</a:t>
            </a:r>
            <a:r>
              <a:rPr lang="en-US" dirty="0"/>
              <a:t> &amp; </a:t>
            </a:r>
            <a:r>
              <a:rPr lang="en-US" i="1" u="sng" dirty="0"/>
              <a:t>runtime errors</a:t>
            </a:r>
          </a:p>
        </p:txBody>
      </p:sp>
      <p:sp>
        <p:nvSpPr>
          <p:cNvPr id="4" name="Content Placeholder 3">
            <a:extLst>
              <a:ext uri="{FF2B5EF4-FFF2-40B4-BE49-F238E27FC236}">
                <a16:creationId xmlns:a16="http://schemas.microsoft.com/office/drawing/2014/main" id="{C105BF6D-D74D-5054-1A44-8640FEE37CDD}"/>
              </a:ext>
            </a:extLst>
          </p:cNvPr>
          <p:cNvSpPr>
            <a:spLocks noGrp="1"/>
          </p:cNvSpPr>
          <p:nvPr>
            <p:ph idx="10"/>
          </p:nvPr>
        </p:nvSpPr>
        <p:spPr>
          <a:xfrm>
            <a:off x="6888355" y="1828800"/>
            <a:ext cx="3345892" cy="3890543"/>
          </a:xfrm>
        </p:spPr>
        <p:txBody>
          <a:bodyPr/>
          <a:lstStyle/>
          <a:p>
            <a:endParaRPr lang="en-US" dirty="0"/>
          </a:p>
          <a:p>
            <a:endParaRPr lang="en-US" dirty="0"/>
          </a:p>
        </p:txBody>
      </p:sp>
      <p:sp>
        <p:nvSpPr>
          <p:cNvPr id="9" name="Content Placeholder 2">
            <a:extLst>
              <a:ext uri="{FF2B5EF4-FFF2-40B4-BE49-F238E27FC236}">
                <a16:creationId xmlns:a16="http://schemas.microsoft.com/office/drawing/2014/main" id="{2B9DAD9B-5286-91C8-5465-4CED675993ED}"/>
              </a:ext>
            </a:extLst>
          </p:cNvPr>
          <p:cNvSpPr txBox="1">
            <a:spLocks/>
          </p:cNvSpPr>
          <p:nvPr/>
        </p:nvSpPr>
        <p:spPr>
          <a:xfrm>
            <a:off x="721210" y="2087561"/>
            <a:ext cx="9724052" cy="373880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Write the code for a program, then </a:t>
            </a:r>
            <a:r>
              <a:rPr lang="en-US" b="1" i="1" u="sng" dirty="0"/>
              <a:t>test</a:t>
            </a:r>
            <a:r>
              <a:rPr lang="en-US" dirty="0"/>
              <a:t> the program.</a:t>
            </a:r>
          </a:p>
          <a:p>
            <a:r>
              <a:rPr lang="en-US" dirty="0"/>
              <a:t>Goal of testing a program:</a:t>
            </a:r>
          </a:p>
          <a:p>
            <a:pPr lvl="1"/>
            <a:r>
              <a:rPr lang="en-US" dirty="0"/>
              <a:t>Find all of the errors (or bugs) in the program. </a:t>
            </a:r>
          </a:p>
          <a:p>
            <a:pPr lvl="1"/>
            <a:r>
              <a:rPr lang="en-US" dirty="0"/>
              <a:t>Whenever you find a bug, you need to </a:t>
            </a:r>
            <a:r>
              <a:rPr lang="en-US" b="1" i="1" u="sng" dirty="0"/>
              <a:t>debug it </a:t>
            </a:r>
            <a:r>
              <a:rPr lang="en-US" dirty="0"/>
              <a:t>or fix it. </a:t>
            </a:r>
          </a:p>
          <a:p>
            <a:r>
              <a:rPr lang="en-US" dirty="0"/>
              <a:t>The process looks like: Test&gt;&gt;Fix&gt;&gt;Test&gt;&gt;Fix (until you finish debugging the entire program)</a:t>
            </a:r>
          </a:p>
        </p:txBody>
      </p:sp>
    </p:spTree>
    <p:extLst>
      <p:ext uri="{BB962C8B-B14F-4D97-AF65-F5344CB8AC3E}">
        <p14:creationId xmlns:p14="http://schemas.microsoft.com/office/powerpoint/2010/main" val="2048155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45DA5-2132-93BB-CBBA-FB045C93E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C31BF-BD9C-A92B-9F59-F4E93CE5225F}"/>
              </a:ext>
            </a:extLst>
          </p:cNvPr>
          <p:cNvSpPr>
            <a:spLocks noGrp="1"/>
          </p:cNvSpPr>
          <p:nvPr>
            <p:ph type="title"/>
          </p:nvPr>
        </p:nvSpPr>
        <p:spPr>
          <a:xfrm>
            <a:off x="1167492" y="457200"/>
            <a:ext cx="3814816" cy="1371600"/>
          </a:xfrm>
        </p:spPr>
        <p:txBody>
          <a:bodyPr/>
          <a:lstStyle/>
          <a:p>
            <a:r>
              <a:rPr lang="en-US" dirty="0"/>
              <a:t>Fix </a:t>
            </a:r>
            <a:r>
              <a:rPr lang="en-US" i="1" u="sng" dirty="0"/>
              <a:t>syntax</a:t>
            </a:r>
            <a:r>
              <a:rPr lang="en-US" dirty="0"/>
              <a:t> &amp; </a:t>
            </a:r>
            <a:r>
              <a:rPr lang="en-US" i="1" u="sng" dirty="0"/>
              <a:t>runtime errors</a:t>
            </a:r>
          </a:p>
        </p:txBody>
      </p:sp>
      <p:sp>
        <p:nvSpPr>
          <p:cNvPr id="4" name="Content Placeholder 3">
            <a:extLst>
              <a:ext uri="{FF2B5EF4-FFF2-40B4-BE49-F238E27FC236}">
                <a16:creationId xmlns:a16="http://schemas.microsoft.com/office/drawing/2014/main" id="{9AADD903-4B42-0915-CA22-B2C4198800E3}"/>
              </a:ext>
            </a:extLst>
          </p:cNvPr>
          <p:cNvSpPr>
            <a:spLocks noGrp="1"/>
          </p:cNvSpPr>
          <p:nvPr>
            <p:ph idx="10"/>
          </p:nvPr>
        </p:nvSpPr>
        <p:spPr>
          <a:xfrm>
            <a:off x="6888355" y="1828800"/>
            <a:ext cx="3345892" cy="3890543"/>
          </a:xfrm>
        </p:spPr>
        <p:txBody>
          <a:bodyPr/>
          <a:lstStyle/>
          <a:p>
            <a:endParaRPr lang="en-US" dirty="0"/>
          </a:p>
          <a:p>
            <a:endParaRPr lang="en-US" dirty="0"/>
          </a:p>
        </p:txBody>
      </p:sp>
      <p:sp>
        <p:nvSpPr>
          <p:cNvPr id="3" name="Content Placeholder 2">
            <a:extLst>
              <a:ext uri="{FF2B5EF4-FFF2-40B4-BE49-F238E27FC236}">
                <a16:creationId xmlns:a16="http://schemas.microsoft.com/office/drawing/2014/main" id="{423D344C-26CC-82DC-70C0-A953E08C4216}"/>
              </a:ext>
            </a:extLst>
          </p:cNvPr>
          <p:cNvSpPr txBox="1">
            <a:spLocks/>
          </p:cNvSpPr>
          <p:nvPr/>
        </p:nvSpPr>
        <p:spPr>
          <a:xfrm>
            <a:off x="721210" y="1980534"/>
            <a:ext cx="4261098" cy="4420265"/>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Two types of errors: </a:t>
            </a:r>
          </a:p>
          <a:p>
            <a:pPr lvl="1"/>
            <a:r>
              <a:rPr lang="en-US" b="1" i="1" u="sng" dirty="0"/>
              <a:t>Syntax error</a:t>
            </a:r>
            <a:r>
              <a:rPr lang="en-US" dirty="0"/>
              <a:t>: Errors that occur because Python coding rules have been violated. As a result, the program can not be compiled. </a:t>
            </a:r>
          </a:p>
          <a:p>
            <a:pPr lvl="1"/>
            <a:r>
              <a:rPr lang="en-US" b="1" i="1" u="sng" dirty="0"/>
              <a:t>Runtime error</a:t>
            </a:r>
            <a:r>
              <a:rPr lang="en-US" dirty="0"/>
              <a:t>: occurs after all the code has compiled cleanly and the program is being executed. Then an error message is displayed that helps you identify the cause of the error. This type of error is also known as </a:t>
            </a:r>
            <a:r>
              <a:rPr lang="en-US" b="1" i="1" u="sng" dirty="0"/>
              <a:t>an exception. </a:t>
            </a:r>
          </a:p>
        </p:txBody>
      </p:sp>
      <p:pic>
        <p:nvPicPr>
          <p:cNvPr id="6" name="Picture 5">
            <a:extLst>
              <a:ext uri="{FF2B5EF4-FFF2-40B4-BE49-F238E27FC236}">
                <a16:creationId xmlns:a16="http://schemas.microsoft.com/office/drawing/2014/main" id="{3DCF1593-1888-C15A-397E-2500CD04A64D}"/>
              </a:ext>
            </a:extLst>
          </p:cNvPr>
          <p:cNvPicPr>
            <a:picLocks noChangeAspect="1"/>
          </p:cNvPicPr>
          <p:nvPr/>
        </p:nvPicPr>
        <p:blipFill>
          <a:blip r:embed="rId3"/>
          <a:stretch>
            <a:fillRect/>
          </a:stretch>
        </p:blipFill>
        <p:spPr>
          <a:xfrm>
            <a:off x="5584886" y="0"/>
            <a:ext cx="6607113" cy="3109229"/>
          </a:xfrm>
          <a:prstGeom prst="rect">
            <a:avLst/>
          </a:prstGeom>
        </p:spPr>
      </p:pic>
      <p:pic>
        <p:nvPicPr>
          <p:cNvPr id="8" name="Picture 7">
            <a:extLst>
              <a:ext uri="{FF2B5EF4-FFF2-40B4-BE49-F238E27FC236}">
                <a16:creationId xmlns:a16="http://schemas.microsoft.com/office/drawing/2014/main" id="{D3E3EDA0-A40C-6CA7-B4EF-069F4B7D108F}"/>
              </a:ext>
            </a:extLst>
          </p:cNvPr>
          <p:cNvPicPr>
            <a:picLocks noChangeAspect="1"/>
          </p:cNvPicPr>
          <p:nvPr/>
        </p:nvPicPr>
        <p:blipFill>
          <a:blip r:embed="rId4"/>
          <a:stretch>
            <a:fillRect/>
          </a:stretch>
        </p:blipFill>
        <p:spPr>
          <a:xfrm>
            <a:off x="5584887" y="3518283"/>
            <a:ext cx="6607112" cy="2882515"/>
          </a:xfrm>
          <a:prstGeom prst="rect">
            <a:avLst/>
          </a:prstGeom>
        </p:spPr>
      </p:pic>
    </p:spTree>
    <p:extLst>
      <p:ext uri="{BB962C8B-B14F-4D97-AF65-F5344CB8AC3E}">
        <p14:creationId xmlns:p14="http://schemas.microsoft.com/office/powerpoint/2010/main" val="1570166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C00FF-6B42-7D84-7831-AACC4E189E93}"/>
              </a:ext>
            </a:extLst>
          </p:cNvPr>
          <p:cNvSpPr>
            <a:spLocks noGrp="1"/>
          </p:cNvSpPr>
          <p:nvPr>
            <p:ph type="title"/>
          </p:nvPr>
        </p:nvSpPr>
        <p:spPr>
          <a:xfrm>
            <a:off x="5549489" y="457199"/>
            <a:ext cx="5943599" cy="1920240"/>
          </a:xfrm>
        </p:spPr>
        <p:txBody>
          <a:bodyPr/>
          <a:lstStyle/>
          <a:p>
            <a:r>
              <a:rPr lang="en-US" dirty="0"/>
              <a:t>Final tips &amp; takeaways</a:t>
            </a:r>
          </a:p>
        </p:txBody>
      </p:sp>
      <p:sp>
        <p:nvSpPr>
          <p:cNvPr id="7" name="Content Placeholder 6">
            <a:extLst>
              <a:ext uri="{FF2B5EF4-FFF2-40B4-BE49-F238E27FC236}">
                <a16:creationId xmlns:a16="http://schemas.microsoft.com/office/drawing/2014/main" id="{CC7FC500-BBFB-3AA4-BEDE-038CB94FFF61}"/>
              </a:ext>
            </a:extLst>
          </p:cNvPr>
          <p:cNvSpPr>
            <a:spLocks noGrp="1" noChangeAspect="1"/>
          </p:cNvSpPr>
          <p:nvPr>
            <p:ph idx="17"/>
          </p:nvPr>
        </p:nvSpPr>
        <p:spPr>
          <a:xfrm>
            <a:off x="823108" y="640080"/>
            <a:ext cx="4297680" cy="4297680"/>
          </a:xfrm>
        </p:spPr>
        <p:txBody>
          <a:bodyPr/>
          <a:lstStyle/>
          <a:p>
            <a:r>
              <a:rPr lang="en-US" dirty="0"/>
              <a:t>Coming to the end of the intro</a:t>
            </a:r>
          </a:p>
        </p:txBody>
      </p:sp>
      <p:sp>
        <p:nvSpPr>
          <p:cNvPr id="4" name="Content Placeholder 3">
            <a:extLst>
              <a:ext uri="{FF2B5EF4-FFF2-40B4-BE49-F238E27FC236}">
                <a16:creationId xmlns:a16="http://schemas.microsoft.com/office/drawing/2014/main" id="{DE5C7B5A-A5C3-15D4-DF71-B692D28942FC}"/>
              </a:ext>
            </a:extLst>
          </p:cNvPr>
          <p:cNvSpPr>
            <a:spLocks noGrp="1"/>
          </p:cNvSpPr>
          <p:nvPr>
            <p:ph idx="15"/>
          </p:nvPr>
        </p:nvSpPr>
        <p:spPr>
          <a:xfrm>
            <a:off x="5549900" y="2706688"/>
            <a:ext cx="5943600" cy="3382962"/>
          </a:xfrm>
        </p:spPr>
        <p:txBody>
          <a:bodyPr>
            <a:normAutofit/>
          </a:bodyPr>
          <a:lstStyle/>
          <a:p>
            <a:r>
              <a:rPr lang="en-US" dirty="0"/>
              <a:t>IDLE is the default integrated development environment for Python. </a:t>
            </a:r>
          </a:p>
          <a:p>
            <a:r>
              <a:rPr lang="en-US" dirty="0"/>
              <a:t>The shell is a great place to run quick Python statements whereas the editor window is more for writing and developing Python programs. </a:t>
            </a:r>
          </a:p>
          <a:p>
            <a:r>
              <a:rPr lang="en-US" dirty="0"/>
              <a:t>When developing programs you may run into different types of errors/bugs, these all need fixing before coming to a successful completion. </a:t>
            </a:r>
          </a:p>
          <a:p>
            <a:endParaRPr lang="en-US" dirty="0"/>
          </a:p>
          <a:p>
            <a:pPr lvl="1"/>
            <a:endParaRPr lang="en-US" dirty="0"/>
          </a:p>
          <a:p>
            <a:endParaRPr lang="en-US" dirty="0"/>
          </a:p>
        </p:txBody>
      </p:sp>
    </p:spTree>
    <p:extLst>
      <p:ext uri="{BB962C8B-B14F-4D97-AF65-F5344CB8AC3E}">
        <p14:creationId xmlns:p14="http://schemas.microsoft.com/office/powerpoint/2010/main" val="853261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40AD8-DEDE-31BA-7F2B-72BCA5193D35}"/>
              </a:ext>
            </a:extLst>
          </p:cNvPr>
          <p:cNvSpPr>
            <a:spLocks noGrp="1"/>
          </p:cNvSpPr>
          <p:nvPr>
            <p:ph type="ctrTitle"/>
          </p:nvPr>
        </p:nvSpPr>
        <p:spPr/>
        <p:txBody>
          <a:bodyPr/>
          <a:lstStyle/>
          <a:p>
            <a:r>
              <a:rPr lang="en-US" dirty="0"/>
              <a:t>Begin in class exercises!</a:t>
            </a:r>
          </a:p>
        </p:txBody>
      </p:sp>
    </p:spTree>
    <p:extLst>
      <p:ext uri="{BB962C8B-B14F-4D97-AF65-F5344CB8AC3E}">
        <p14:creationId xmlns:p14="http://schemas.microsoft.com/office/powerpoint/2010/main" val="2421586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B807D-D467-E39E-F10B-E9065B2BCA7C}"/>
              </a:ext>
            </a:extLst>
          </p:cNvPr>
          <p:cNvSpPr>
            <a:spLocks noGrp="1"/>
          </p:cNvSpPr>
          <p:nvPr>
            <p:ph type="title"/>
          </p:nvPr>
        </p:nvSpPr>
        <p:spPr/>
        <p:txBody>
          <a:bodyPr/>
          <a:lstStyle/>
          <a:p>
            <a:r>
              <a:rPr lang="en-US" dirty="0"/>
              <a:t>Experiment with IDLE’s interactive shell</a:t>
            </a:r>
          </a:p>
        </p:txBody>
      </p:sp>
      <p:sp>
        <p:nvSpPr>
          <p:cNvPr id="3" name="Content Placeholder 2">
            <a:extLst>
              <a:ext uri="{FF2B5EF4-FFF2-40B4-BE49-F238E27FC236}">
                <a16:creationId xmlns:a16="http://schemas.microsoft.com/office/drawing/2014/main" id="{7FC207F3-3D9E-B6CB-D903-BD7C978BE64F}"/>
              </a:ext>
            </a:extLst>
          </p:cNvPr>
          <p:cNvSpPr>
            <a:spLocks noGrp="1"/>
          </p:cNvSpPr>
          <p:nvPr>
            <p:ph idx="1"/>
          </p:nvPr>
        </p:nvSpPr>
        <p:spPr>
          <a:xfrm>
            <a:off x="1167493" y="2084832"/>
            <a:ext cx="5338815" cy="3366813"/>
          </a:xfrm>
        </p:spPr>
        <p:txBody>
          <a:bodyPr/>
          <a:lstStyle/>
          <a:p>
            <a:pPr marL="514350" indent="-514350">
              <a:buAutoNum type="arabicPeriod"/>
            </a:pPr>
            <a:r>
              <a:rPr lang="en-US" dirty="0"/>
              <a:t>Start IDLE. That should display a window for the interactive shell</a:t>
            </a:r>
          </a:p>
          <a:p>
            <a:pPr marL="514350" indent="-514350">
              <a:buAutoNum type="arabicPeriod"/>
            </a:pPr>
            <a:r>
              <a:rPr lang="en-US" dirty="0"/>
              <a:t>Enter the following print functions and arithmetic expressions into the interactive console.</a:t>
            </a:r>
          </a:p>
        </p:txBody>
      </p:sp>
      <p:pic>
        <p:nvPicPr>
          <p:cNvPr id="5" name="Picture 4">
            <a:extLst>
              <a:ext uri="{FF2B5EF4-FFF2-40B4-BE49-F238E27FC236}">
                <a16:creationId xmlns:a16="http://schemas.microsoft.com/office/drawing/2014/main" id="{9490CE8A-8598-DECE-4E16-348C653480C6}"/>
              </a:ext>
            </a:extLst>
          </p:cNvPr>
          <p:cNvPicPr>
            <a:picLocks noChangeAspect="1"/>
          </p:cNvPicPr>
          <p:nvPr/>
        </p:nvPicPr>
        <p:blipFill>
          <a:blip r:embed="rId3"/>
          <a:stretch>
            <a:fillRect/>
          </a:stretch>
        </p:blipFill>
        <p:spPr>
          <a:xfrm>
            <a:off x="6096000" y="1910862"/>
            <a:ext cx="5715923" cy="4273486"/>
          </a:xfrm>
          <a:prstGeom prst="rect">
            <a:avLst/>
          </a:prstGeom>
        </p:spPr>
      </p:pic>
    </p:spTree>
    <p:extLst>
      <p:ext uri="{BB962C8B-B14F-4D97-AF65-F5344CB8AC3E}">
        <p14:creationId xmlns:p14="http://schemas.microsoft.com/office/powerpoint/2010/main" val="10336317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A1943-B8E7-ADA3-1F2D-649A2A65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A64BA-B59F-4E7B-6CED-46C2334B9C26}"/>
              </a:ext>
            </a:extLst>
          </p:cNvPr>
          <p:cNvSpPr>
            <a:spLocks noGrp="1"/>
          </p:cNvSpPr>
          <p:nvPr>
            <p:ph type="title"/>
          </p:nvPr>
        </p:nvSpPr>
        <p:spPr/>
        <p:txBody>
          <a:bodyPr/>
          <a:lstStyle/>
          <a:p>
            <a:r>
              <a:rPr lang="en-US" dirty="0"/>
              <a:t>Experiment with IDLE’s interactive shell</a:t>
            </a:r>
          </a:p>
        </p:txBody>
      </p:sp>
      <p:sp>
        <p:nvSpPr>
          <p:cNvPr id="3" name="Content Placeholder 2">
            <a:extLst>
              <a:ext uri="{FF2B5EF4-FFF2-40B4-BE49-F238E27FC236}">
                <a16:creationId xmlns:a16="http://schemas.microsoft.com/office/drawing/2014/main" id="{AD116B4A-3C2D-6B63-A256-9620BD06DEBA}"/>
              </a:ext>
            </a:extLst>
          </p:cNvPr>
          <p:cNvSpPr>
            <a:spLocks noGrp="1"/>
          </p:cNvSpPr>
          <p:nvPr>
            <p:ph idx="1"/>
          </p:nvPr>
        </p:nvSpPr>
        <p:spPr>
          <a:xfrm>
            <a:off x="1167493" y="2084832"/>
            <a:ext cx="5338815" cy="3366813"/>
          </a:xfrm>
        </p:spPr>
        <p:txBody>
          <a:bodyPr/>
          <a:lstStyle/>
          <a:p>
            <a:pPr marL="514350" indent="-514350">
              <a:buAutoNum type="arabicPeriod"/>
            </a:pPr>
            <a:r>
              <a:rPr lang="en-US" dirty="0"/>
              <a:t>Try entering these statements to see how they work</a:t>
            </a:r>
          </a:p>
          <a:p>
            <a:endParaRPr lang="en-US" dirty="0"/>
          </a:p>
        </p:txBody>
      </p:sp>
      <p:pic>
        <p:nvPicPr>
          <p:cNvPr id="6" name="Picture 5">
            <a:extLst>
              <a:ext uri="{FF2B5EF4-FFF2-40B4-BE49-F238E27FC236}">
                <a16:creationId xmlns:a16="http://schemas.microsoft.com/office/drawing/2014/main" id="{8568DA30-8ECF-06B8-F542-EAA4E87FA978}"/>
              </a:ext>
            </a:extLst>
          </p:cNvPr>
          <p:cNvPicPr>
            <a:picLocks noChangeAspect="1"/>
          </p:cNvPicPr>
          <p:nvPr/>
        </p:nvPicPr>
        <p:blipFill>
          <a:blip r:embed="rId3"/>
          <a:stretch>
            <a:fillRect/>
          </a:stretch>
        </p:blipFill>
        <p:spPr>
          <a:xfrm>
            <a:off x="1893524" y="3515708"/>
            <a:ext cx="2908862" cy="2603739"/>
          </a:xfrm>
          <a:prstGeom prst="rect">
            <a:avLst/>
          </a:prstGeom>
        </p:spPr>
      </p:pic>
    </p:spTree>
    <p:extLst>
      <p:ext uri="{BB962C8B-B14F-4D97-AF65-F5344CB8AC3E}">
        <p14:creationId xmlns:p14="http://schemas.microsoft.com/office/powerpoint/2010/main" val="2352001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8332C-D66C-5F75-A23C-7B945BBF6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F4122-1EF3-2562-D428-BE2360EFA7B4}"/>
              </a:ext>
            </a:extLst>
          </p:cNvPr>
          <p:cNvSpPr>
            <a:spLocks noGrp="1"/>
          </p:cNvSpPr>
          <p:nvPr>
            <p:ph type="title"/>
          </p:nvPr>
        </p:nvSpPr>
        <p:spPr/>
        <p:txBody>
          <a:bodyPr/>
          <a:lstStyle/>
          <a:p>
            <a:r>
              <a:rPr lang="en-US" dirty="0"/>
              <a:t>Experiment with IDLE’s interactive shell</a:t>
            </a:r>
          </a:p>
        </p:txBody>
      </p:sp>
      <p:sp>
        <p:nvSpPr>
          <p:cNvPr id="3" name="Content Placeholder 2">
            <a:extLst>
              <a:ext uri="{FF2B5EF4-FFF2-40B4-BE49-F238E27FC236}">
                <a16:creationId xmlns:a16="http://schemas.microsoft.com/office/drawing/2014/main" id="{AA94254F-9311-2E74-871F-1336A2F102E0}"/>
              </a:ext>
            </a:extLst>
          </p:cNvPr>
          <p:cNvSpPr>
            <a:spLocks noGrp="1"/>
          </p:cNvSpPr>
          <p:nvPr>
            <p:ph idx="1"/>
          </p:nvPr>
        </p:nvSpPr>
        <p:spPr>
          <a:xfrm>
            <a:off x="1167493" y="2084832"/>
            <a:ext cx="5338815" cy="3366813"/>
          </a:xfrm>
        </p:spPr>
        <p:txBody>
          <a:bodyPr/>
          <a:lstStyle/>
          <a:p>
            <a:pPr marL="514350" indent="-514350">
              <a:buAutoNum type="arabicPeriod"/>
            </a:pPr>
            <a:r>
              <a:rPr lang="en-US" dirty="0"/>
              <a:t>Run the Console version of the future value program (download from canvas)</a:t>
            </a:r>
          </a:p>
          <a:p>
            <a:endParaRPr lang="en-US" dirty="0"/>
          </a:p>
        </p:txBody>
      </p:sp>
      <p:pic>
        <p:nvPicPr>
          <p:cNvPr id="5" name="Picture 4">
            <a:extLst>
              <a:ext uri="{FF2B5EF4-FFF2-40B4-BE49-F238E27FC236}">
                <a16:creationId xmlns:a16="http://schemas.microsoft.com/office/drawing/2014/main" id="{819AD8E9-C612-404F-250F-7CE8D24278BF}"/>
              </a:ext>
            </a:extLst>
          </p:cNvPr>
          <p:cNvPicPr>
            <a:picLocks noChangeAspect="1"/>
          </p:cNvPicPr>
          <p:nvPr/>
        </p:nvPicPr>
        <p:blipFill>
          <a:blip r:embed="rId3"/>
          <a:stretch>
            <a:fillRect/>
          </a:stretch>
        </p:blipFill>
        <p:spPr>
          <a:xfrm>
            <a:off x="2210800" y="3609772"/>
            <a:ext cx="9572318" cy="2302203"/>
          </a:xfrm>
          <a:prstGeom prst="rect">
            <a:avLst/>
          </a:prstGeom>
        </p:spPr>
      </p:pic>
      <p:sp>
        <p:nvSpPr>
          <p:cNvPr id="7" name="TextBox 6">
            <a:extLst>
              <a:ext uri="{FF2B5EF4-FFF2-40B4-BE49-F238E27FC236}">
                <a16:creationId xmlns:a16="http://schemas.microsoft.com/office/drawing/2014/main" id="{955E509A-D67E-3EA0-638B-D2271419C4A5}"/>
              </a:ext>
            </a:extLst>
          </p:cNvPr>
          <p:cNvSpPr txBox="1"/>
          <p:nvPr/>
        </p:nvSpPr>
        <p:spPr>
          <a:xfrm>
            <a:off x="1547447" y="3610708"/>
            <a:ext cx="586154" cy="369332"/>
          </a:xfrm>
          <a:prstGeom prst="rect">
            <a:avLst/>
          </a:prstGeom>
          <a:noFill/>
        </p:spPr>
        <p:txBody>
          <a:bodyPr wrap="square" rtlCol="0">
            <a:spAutoFit/>
          </a:bodyPr>
          <a:lstStyle/>
          <a:p>
            <a:r>
              <a:rPr lang="en-US" dirty="0"/>
              <a:t>1a.</a:t>
            </a:r>
          </a:p>
        </p:txBody>
      </p:sp>
      <p:sp>
        <p:nvSpPr>
          <p:cNvPr id="8" name="TextBox 7">
            <a:extLst>
              <a:ext uri="{FF2B5EF4-FFF2-40B4-BE49-F238E27FC236}">
                <a16:creationId xmlns:a16="http://schemas.microsoft.com/office/drawing/2014/main" id="{74A74523-C558-9AF4-8484-093056CF0851}"/>
              </a:ext>
            </a:extLst>
          </p:cNvPr>
          <p:cNvSpPr txBox="1"/>
          <p:nvPr/>
        </p:nvSpPr>
        <p:spPr>
          <a:xfrm>
            <a:off x="1547447" y="4665785"/>
            <a:ext cx="586154" cy="369332"/>
          </a:xfrm>
          <a:prstGeom prst="rect">
            <a:avLst/>
          </a:prstGeom>
          <a:noFill/>
        </p:spPr>
        <p:txBody>
          <a:bodyPr wrap="square" rtlCol="0">
            <a:spAutoFit/>
          </a:bodyPr>
          <a:lstStyle/>
          <a:p>
            <a:r>
              <a:rPr lang="en-US" dirty="0"/>
              <a:t>1b.</a:t>
            </a:r>
          </a:p>
        </p:txBody>
      </p:sp>
    </p:spTree>
    <p:extLst>
      <p:ext uri="{BB962C8B-B14F-4D97-AF65-F5344CB8AC3E}">
        <p14:creationId xmlns:p14="http://schemas.microsoft.com/office/powerpoint/2010/main" val="3593708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8E0D7-39CB-31A3-5AF2-2E3C62D37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EBEB1F-F6A5-0267-25E1-8B1B66C95167}"/>
              </a:ext>
            </a:extLst>
          </p:cNvPr>
          <p:cNvSpPr>
            <a:spLocks noGrp="1"/>
          </p:cNvSpPr>
          <p:nvPr>
            <p:ph type="title"/>
          </p:nvPr>
        </p:nvSpPr>
        <p:spPr/>
        <p:txBody>
          <a:bodyPr/>
          <a:lstStyle/>
          <a:p>
            <a:r>
              <a:rPr lang="en-US" dirty="0"/>
              <a:t>Experiment with IDLE’s interactive shell</a:t>
            </a:r>
          </a:p>
        </p:txBody>
      </p:sp>
      <p:sp>
        <p:nvSpPr>
          <p:cNvPr id="3" name="Content Placeholder 2">
            <a:extLst>
              <a:ext uri="{FF2B5EF4-FFF2-40B4-BE49-F238E27FC236}">
                <a16:creationId xmlns:a16="http://schemas.microsoft.com/office/drawing/2014/main" id="{9F1DD951-B811-9231-8D57-3610AE46C13C}"/>
              </a:ext>
            </a:extLst>
          </p:cNvPr>
          <p:cNvSpPr>
            <a:spLocks noGrp="1"/>
          </p:cNvSpPr>
          <p:nvPr>
            <p:ph idx="1"/>
          </p:nvPr>
        </p:nvSpPr>
        <p:spPr>
          <a:xfrm>
            <a:off x="1167493" y="2084832"/>
            <a:ext cx="5338815" cy="3366813"/>
          </a:xfrm>
        </p:spPr>
        <p:txBody>
          <a:bodyPr/>
          <a:lstStyle/>
          <a:p>
            <a:pPr marL="514350" indent="-514350">
              <a:buAutoNum type="arabicPeriod"/>
            </a:pPr>
            <a:r>
              <a:rPr lang="en-US" dirty="0"/>
              <a:t>Run the GUI version of the future value program (download from Canvas)</a:t>
            </a:r>
          </a:p>
          <a:p>
            <a:endParaRPr lang="en-US" dirty="0"/>
          </a:p>
        </p:txBody>
      </p:sp>
      <p:sp>
        <p:nvSpPr>
          <p:cNvPr id="7" name="TextBox 6">
            <a:extLst>
              <a:ext uri="{FF2B5EF4-FFF2-40B4-BE49-F238E27FC236}">
                <a16:creationId xmlns:a16="http://schemas.microsoft.com/office/drawing/2014/main" id="{1546E136-63D2-354B-1CBB-E6EEF56D5F28}"/>
              </a:ext>
            </a:extLst>
          </p:cNvPr>
          <p:cNvSpPr txBox="1"/>
          <p:nvPr/>
        </p:nvSpPr>
        <p:spPr>
          <a:xfrm>
            <a:off x="1547447" y="3610708"/>
            <a:ext cx="586154" cy="369332"/>
          </a:xfrm>
          <a:prstGeom prst="rect">
            <a:avLst/>
          </a:prstGeom>
          <a:noFill/>
        </p:spPr>
        <p:txBody>
          <a:bodyPr wrap="square" rtlCol="0">
            <a:spAutoFit/>
          </a:bodyPr>
          <a:lstStyle/>
          <a:p>
            <a:r>
              <a:rPr lang="en-US" dirty="0"/>
              <a:t>1a.</a:t>
            </a:r>
          </a:p>
        </p:txBody>
      </p:sp>
      <p:sp>
        <p:nvSpPr>
          <p:cNvPr id="8" name="TextBox 7">
            <a:extLst>
              <a:ext uri="{FF2B5EF4-FFF2-40B4-BE49-F238E27FC236}">
                <a16:creationId xmlns:a16="http://schemas.microsoft.com/office/drawing/2014/main" id="{0ACAA246-BB42-F6B8-A302-D7A9EFFB0242}"/>
              </a:ext>
            </a:extLst>
          </p:cNvPr>
          <p:cNvSpPr txBox="1"/>
          <p:nvPr/>
        </p:nvSpPr>
        <p:spPr>
          <a:xfrm>
            <a:off x="1547447" y="4665785"/>
            <a:ext cx="586154" cy="369332"/>
          </a:xfrm>
          <a:prstGeom prst="rect">
            <a:avLst/>
          </a:prstGeom>
          <a:noFill/>
        </p:spPr>
        <p:txBody>
          <a:bodyPr wrap="square" rtlCol="0">
            <a:spAutoFit/>
          </a:bodyPr>
          <a:lstStyle/>
          <a:p>
            <a:r>
              <a:rPr lang="en-US" dirty="0"/>
              <a:t>1b.</a:t>
            </a:r>
          </a:p>
        </p:txBody>
      </p:sp>
      <p:pic>
        <p:nvPicPr>
          <p:cNvPr id="6" name="Picture 5">
            <a:extLst>
              <a:ext uri="{FF2B5EF4-FFF2-40B4-BE49-F238E27FC236}">
                <a16:creationId xmlns:a16="http://schemas.microsoft.com/office/drawing/2014/main" id="{535A735C-6A70-F31F-7D13-659DFB3A73F5}"/>
              </a:ext>
            </a:extLst>
          </p:cNvPr>
          <p:cNvPicPr>
            <a:picLocks noChangeAspect="1"/>
          </p:cNvPicPr>
          <p:nvPr/>
        </p:nvPicPr>
        <p:blipFill>
          <a:blip r:embed="rId3"/>
          <a:stretch>
            <a:fillRect/>
          </a:stretch>
        </p:blipFill>
        <p:spPr>
          <a:xfrm>
            <a:off x="2130101" y="3592947"/>
            <a:ext cx="8752414" cy="2145675"/>
          </a:xfrm>
          <a:prstGeom prst="rect">
            <a:avLst/>
          </a:prstGeom>
        </p:spPr>
      </p:pic>
    </p:spTree>
    <p:extLst>
      <p:ext uri="{BB962C8B-B14F-4D97-AF65-F5344CB8AC3E}">
        <p14:creationId xmlns:p14="http://schemas.microsoft.com/office/powerpoint/2010/main" val="217239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28CF7-E922-18BE-EA41-155BF77CFF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D84191-9AB9-EDDF-EE57-5E487D69B1BC}"/>
              </a:ext>
            </a:extLst>
          </p:cNvPr>
          <p:cNvSpPr>
            <a:spLocks noGrp="1"/>
          </p:cNvSpPr>
          <p:nvPr>
            <p:ph type="title"/>
          </p:nvPr>
        </p:nvSpPr>
        <p:spPr/>
        <p:txBody>
          <a:bodyPr/>
          <a:lstStyle/>
          <a:p>
            <a:r>
              <a:rPr lang="en-US" dirty="0"/>
              <a:t>Experiment with IDLE’s interactive shell</a:t>
            </a:r>
          </a:p>
        </p:txBody>
      </p:sp>
      <p:sp>
        <p:nvSpPr>
          <p:cNvPr id="3" name="Content Placeholder 2">
            <a:extLst>
              <a:ext uri="{FF2B5EF4-FFF2-40B4-BE49-F238E27FC236}">
                <a16:creationId xmlns:a16="http://schemas.microsoft.com/office/drawing/2014/main" id="{585FF3E7-D681-F57F-5A33-C8917CC10C67}"/>
              </a:ext>
            </a:extLst>
          </p:cNvPr>
          <p:cNvSpPr>
            <a:spLocks noGrp="1"/>
          </p:cNvSpPr>
          <p:nvPr>
            <p:ph idx="1"/>
          </p:nvPr>
        </p:nvSpPr>
        <p:spPr>
          <a:xfrm>
            <a:off x="1167493" y="2084832"/>
            <a:ext cx="5338815" cy="3366813"/>
          </a:xfrm>
        </p:spPr>
        <p:txBody>
          <a:bodyPr/>
          <a:lstStyle/>
          <a:p>
            <a:pPr marL="514350" indent="-514350">
              <a:buAutoNum type="arabicPeriod"/>
            </a:pPr>
            <a:r>
              <a:rPr lang="en-US" dirty="0"/>
              <a:t>Run the guess the number program (download from Canvas)</a:t>
            </a:r>
          </a:p>
          <a:p>
            <a:endParaRPr lang="en-US" dirty="0"/>
          </a:p>
        </p:txBody>
      </p:sp>
      <p:sp>
        <p:nvSpPr>
          <p:cNvPr id="7" name="TextBox 6">
            <a:extLst>
              <a:ext uri="{FF2B5EF4-FFF2-40B4-BE49-F238E27FC236}">
                <a16:creationId xmlns:a16="http://schemas.microsoft.com/office/drawing/2014/main" id="{88909D5A-DB7C-F253-965E-8CFA9FE2FD50}"/>
              </a:ext>
            </a:extLst>
          </p:cNvPr>
          <p:cNvSpPr txBox="1"/>
          <p:nvPr/>
        </p:nvSpPr>
        <p:spPr>
          <a:xfrm>
            <a:off x="1547447" y="3610708"/>
            <a:ext cx="586154" cy="369332"/>
          </a:xfrm>
          <a:prstGeom prst="rect">
            <a:avLst/>
          </a:prstGeom>
          <a:noFill/>
        </p:spPr>
        <p:txBody>
          <a:bodyPr wrap="square" rtlCol="0">
            <a:spAutoFit/>
          </a:bodyPr>
          <a:lstStyle/>
          <a:p>
            <a:r>
              <a:rPr lang="en-US" dirty="0"/>
              <a:t>1a.</a:t>
            </a:r>
          </a:p>
        </p:txBody>
      </p:sp>
      <p:sp>
        <p:nvSpPr>
          <p:cNvPr id="8" name="TextBox 7">
            <a:extLst>
              <a:ext uri="{FF2B5EF4-FFF2-40B4-BE49-F238E27FC236}">
                <a16:creationId xmlns:a16="http://schemas.microsoft.com/office/drawing/2014/main" id="{027CF029-B0B7-C23E-6EF9-443FB62FBA76}"/>
              </a:ext>
            </a:extLst>
          </p:cNvPr>
          <p:cNvSpPr txBox="1"/>
          <p:nvPr/>
        </p:nvSpPr>
        <p:spPr>
          <a:xfrm>
            <a:off x="1547447" y="4481119"/>
            <a:ext cx="586154" cy="369332"/>
          </a:xfrm>
          <a:prstGeom prst="rect">
            <a:avLst/>
          </a:prstGeom>
          <a:noFill/>
        </p:spPr>
        <p:txBody>
          <a:bodyPr wrap="square" rtlCol="0">
            <a:spAutoFit/>
          </a:bodyPr>
          <a:lstStyle/>
          <a:p>
            <a:r>
              <a:rPr lang="en-US" dirty="0"/>
              <a:t>1b.</a:t>
            </a:r>
          </a:p>
        </p:txBody>
      </p:sp>
      <p:pic>
        <p:nvPicPr>
          <p:cNvPr id="5" name="Picture 4">
            <a:extLst>
              <a:ext uri="{FF2B5EF4-FFF2-40B4-BE49-F238E27FC236}">
                <a16:creationId xmlns:a16="http://schemas.microsoft.com/office/drawing/2014/main" id="{236E789F-7F1B-3126-9216-9EF9EE9FE6C6}"/>
              </a:ext>
            </a:extLst>
          </p:cNvPr>
          <p:cNvPicPr>
            <a:picLocks noChangeAspect="1"/>
          </p:cNvPicPr>
          <p:nvPr/>
        </p:nvPicPr>
        <p:blipFill>
          <a:blip r:embed="rId3"/>
          <a:stretch>
            <a:fillRect/>
          </a:stretch>
        </p:blipFill>
        <p:spPr>
          <a:xfrm>
            <a:off x="2056852" y="3610709"/>
            <a:ext cx="9619333" cy="1490132"/>
          </a:xfrm>
          <a:prstGeom prst="rect">
            <a:avLst/>
          </a:prstGeom>
        </p:spPr>
      </p:pic>
    </p:spTree>
    <p:extLst>
      <p:ext uri="{BB962C8B-B14F-4D97-AF65-F5344CB8AC3E}">
        <p14:creationId xmlns:p14="http://schemas.microsoft.com/office/powerpoint/2010/main" val="3295581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D362C-BA73-80ED-13F6-AB40DBB8C1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8F105-3D99-035C-BE36-D74F9272ED71}"/>
              </a:ext>
            </a:extLst>
          </p:cNvPr>
          <p:cNvSpPr>
            <a:spLocks noGrp="1"/>
          </p:cNvSpPr>
          <p:nvPr>
            <p:ph type="title"/>
          </p:nvPr>
        </p:nvSpPr>
        <p:spPr/>
        <p:txBody>
          <a:bodyPr/>
          <a:lstStyle/>
          <a:p>
            <a:r>
              <a:rPr lang="en-US" dirty="0"/>
              <a:t>Experiment with IDLE’s interactive shell</a:t>
            </a:r>
          </a:p>
        </p:txBody>
      </p:sp>
      <p:sp>
        <p:nvSpPr>
          <p:cNvPr id="3" name="Content Placeholder 2">
            <a:extLst>
              <a:ext uri="{FF2B5EF4-FFF2-40B4-BE49-F238E27FC236}">
                <a16:creationId xmlns:a16="http://schemas.microsoft.com/office/drawing/2014/main" id="{263B61AF-86BF-ECAA-790C-EB240853D460}"/>
              </a:ext>
            </a:extLst>
          </p:cNvPr>
          <p:cNvSpPr>
            <a:spLocks noGrp="1"/>
          </p:cNvSpPr>
          <p:nvPr>
            <p:ph idx="1"/>
          </p:nvPr>
        </p:nvSpPr>
        <p:spPr>
          <a:xfrm>
            <a:off x="1167493" y="2084832"/>
            <a:ext cx="7120722" cy="3366813"/>
          </a:xfrm>
        </p:spPr>
        <p:txBody>
          <a:bodyPr/>
          <a:lstStyle/>
          <a:p>
            <a:pPr marL="514350" indent="-514350">
              <a:buAutoNum type="arabicPeriod"/>
            </a:pPr>
            <a:r>
              <a:rPr lang="en-US" dirty="0"/>
              <a:t>Use the IDLE to test and debug a program using “future_value_errors.py” (download from Canvas)</a:t>
            </a:r>
          </a:p>
          <a:p>
            <a:endParaRPr lang="en-US" dirty="0"/>
          </a:p>
        </p:txBody>
      </p:sp>
      <p:sp>
        <p:nvSpPr>
          <p:cNvPr id="7" name="TextBox 6">
            <a:extLst>
              <a:ext uri="{FF2B5EF4-FFF2-40B4-BE49-F238E27FC236}">
                <a16:creationId xmlns:a16="http://schemas.microsoft.com/office/drawing/2014/main" id="{713FC7ED-37A9-77C6-AFE6-3540EABCCDD2}"/>
              </a:ext>
            </a:extLst>
          </p:cNvPr>
          <p:cNvSpPr txBox="1"/>
          <p:nvPr/>
        </p:nvSpPr>
        <p:spPr>
          <a:xfrm>
            <a:off x="1664678" y="3398906"/>
            <a:ext cx="586154" cy="369332"/>
          </a:xfrm>
          <a:prstGeom prst="rect">
            <a:avLst/>
          </a:prstGeom>
          <a:noFill/>
        </p:spPr>
        <p:txBody>
          <a:bodyPr wrap="square" rtlCol="0">
            <a:spAutoFit/>
          </a:bodyPr>
          <a:lstStyle/>
          <a:p>
            <a:r>
              <a:rPr lang="en-US" dirty="0"/>
              <a:t>1a.</a:t>
            </a:r>
          </a:p>
        </p:txBody>
      </p:sp>
      <p:sp>
        <p:nvSpPr>
          <p:cNvPr id="8" name="TextBox 7">
            <a:extLst>
              <a:ext uri="{FF2B5EF4-FFF2-40B4-BE49-F238E27FC236}">
                <a16:creationId xmlns:a16="http://schemas.microsoft.com/office/drawing/2014/main" id="{4DBD9AAA-9A41-C70D-39F6-C6CB59BFEFFE}"/>
              </a:ext>
            </a:extLst>
          </p:cNvPr>
          <p:cNvSpPr txBox="1"/>
          <p:nvPr/>
        </p:nvSpPr>
        <p:spPr>
          <a:xfrm>
            <a:off x="1606063" y="4456363"/>
            <a:ext cx="586154" cy="369332"/>
          </a:xfrm>
          <a:prstGeom prst="rect">
            <a:avLst/>
          </a:prstGeom>
          <a:noFill/>
        </p:spPr>
        <p:txBody>
          <a:bodyPr wrap="square" rtlCol="0">
            <a:spAutoFit/>
          </a:bodyPr>
          <a:lstStyle/>
          <a:p>
            <a:r>
              <a:rPr lang="en-US" dirty="0"/>
              <a:t>1b.</a:t>
            </a:r>
          </a:p>
        </p:txBody>
      </p:sp>
      <p:pic>
        <p:nvPicPr>
          <p:cNvPr id="6" name="Picture 5">
            <a:extLst>
              <a:ext uri="{FF2B5EF4-FFF2-40B4-BE49-F238E27FC236}">
                <a16:creationId xmlns:a16="http://schemas.microsoft.com/office/drawing/2014/main" id="{98C68C5A-68F0-C37A-91E9-C7B13A283E16}"/>
              </a:ext>
            </a:extLst>
          </p:cNvPr>
          <p:cNvPicPr>
            <a:picLocks noChangeAspect="1"/>
          </p:cNvPicPr>
          <p:nvPr/>
        </p:nvPicPr>
        <p:blipFill>
          <a:blip r:embed="rId3"/>
          <a:stretch>
            <a:fillRect/>
          </a:stretch>
        </p:blipFill>
        <p:spPr>
          <a:xfrm>
            <a:off x="2133601" y="3429000"/>
            <a:ext cx="8761649" cy="2793391"/>
          </a:xfrm>
          <a:prstGeom prst="rect">
            <a:avLst/>
          </a:prstGeom>
        </p:spPr>
      </p:pic>
      <p:sp>
        <p:nvSpPr>
          <p:cNvPr id="9" name="TextBox 8">
            <a:extLst>
              <a:ext uri="{FF2B5EF4-FFF2-40B4-BE49-F238E27FC236}">
                <a16:creationId xmlns:a16="http://schemas.microsoft.com/office/drawing/2014/main" id="{B9265ACB-63C6-2B9F-2121-8CA960D489CE}"/>
              </a:ext>
            </a:extLst>
          </p:cNvPr>
          <p:cNvSpPr txBox="1"/>
          <p:nvPr/>
        </p:nvSpPr>
        <p:spPr>
          <a:xfrm>
            <a:off x="1617788" y="5210622"/>
            <a:ext cx="586154" cy="369332"/>
          </a:xfrm>
          <a:prstGeom prst="rect">
            <a:avLst/>
          </a:prstGeom>
          <a:noFill/>
        </p:spPr>
        <p:txBody>
          <a:bodyPr wrap="square" rtlCol="0">
            <a:spAutoFit/>
          </a:bodyPr>
          <a:lstStyle/>
          <a:p>
            <a:r>
              <a:rPr lang="en-US" dirty="0"/>
              <a:t>1c.</a:t>
            </a:r>
          </a:p>
        </p:txBody>
      </p:sp>
    </p:spTree>
    <p:extLst>
      <p:ext uri="{BB962C8B-B14F-4D97-AF65-F5344CB8AC3E}">
        <p14:creationId xmlns:p14="http://schemas.microsoft.com/office/powerpoint/2010/main" val="1826209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90EB4-D4BD-2822-0E7C-CC2F15E0F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371F0-078B-2396-6103-F950F2D1E193}"/>
              </a:ext>
            </a:extLst>
          </p:cNvPr>
          <p:cNvSpPr>
            <a:spLocks noGrp="1"/>
          </p:cNvSpPr>
          <p:nvPr>
            <p:ph type="title"/>
          </p:nvPr>
        </p:nvSpPr>
        <p:spPr/>
        <p:txBody>
          <a:bodyPr/>
          <a:lstStyle/>
          <a:p>
            <a:r>
              <a:rPr lang="en-US" dirty="0"/>
              <a:t>Experiment with IDLE’s interactive shell</a:t>
            </a:r>
          </a:p>
        </p:txBody>
      </p:sp>
      <p:sp>
        <p:nvSpPr>
          <p:cNvPr id="3" name="Content Placeholder 2">
            <a:extLst>
              <a:ext uri="{FF2B5EF4-FFF2-40B4-BE49-F238E27FC236}">
                <a16:creationId xmlns:a16="http://schemas.microsoft.com/office/drawing/2014/main" id="{C7B0D616-D7E4-1ED8-02F7-5C86CBE441F6}"/>
              </a:ext>
            </a:extLst>
          </p:cNvPr>
          <p:cNvSpPr>
            <a:spLocks noGrp="1"/>
          </p:cNvSpPr>
          <p:nvPr>
            <p:ph idx="1"/>
          </p:nvPr>
        </p:nvSpPr>
        <p:spPr>
          <a:xfrm>
            <a:off x="1167492" y="1918282"/>
            <a:ext cx="7120722" cy="3366813"/>
          </a:xfrm>
        </p:spPr>
        <p:txBody>
          <a:bodyPr/>
          <a:lstStyle/>
          <a:p>
            <a:pPr marL="514350" indent="-514350">
              <a:buAutoNum type="arabicPeriod"/>
            </a:pPr>
            <a:r>
              <a:rPr lang="en-US" dirty="0"/>
              <a:t>Use the IDLE to test and debug a program using “future_value_errors.py” (download from Canvas)</a:t>
            </a:r>
          </a:p>
          <a:p>
            <a:endParaRPr lang="en-US" dirty="0"/>
          </a:p>
        </p:txBody>
      </p:sp>
      <p:sp>
        <p:nvSpPr>
          <p:cNvPr id="7" name="TextBox 6">
            <a:extLst>
              <a:ext uri="{FF2B5EF4-FFF2-40B4-BE49-F238E27FC236}">
                <a16:creationId xmlns:a16="http://schemas.microsoft.com/office/drawing/2014/main" id="{2D5C62A0-45FB-C5A8-D462-DC19DD3A5F0C}"/>
              </a:ext>
            </a:extLst>
          </p:cNvPr>
          <p:cNvSpPr txBox="1"/>
          <p:nvPr/>
        </p:nvSpPr>
        <p:spPr>
          <a:xfrm>
            <a:off x="1664678" y="3244334"/>
            <a:ext cx="586154" cy="369332"/>
          </a:xfrm>
          <a:prstGeom prst="rect">
            <a:avLst/>
          </a:prstGeom>
          <a:noFill/>
        </p:spPr>
        <p:txBody>
          <a:bodyPr wrap="square" rtlCol="0">
            <a:spAutoFit/>
          </a:bodyPr>
          <a:lstStyle/>
          <a:p>
            <a:r>
              <a:rPr lang="en-US" dirty="0"/>
              <a:t>1a.</a:t>
            </a:r>
          </a:p>
        </p:txBody>
      </p:sp>
      <p:sp>
        <p:nvSpPr>
          <p:cNvPr id="8" name="TextBox 7">
            <a:extLst>
              <a:ext uri="{FF2B5EF4-FFF2-40B4-BE49-F238E27FC236}">
                <a16:creationId xmlns:a16="http://schemas.microsoft.com/office/drawing/2014/main" id="{D6FACBB7-FEE3-2ABE-2E99-4882D8FDE375}"/>
              </a:ext>
            </a:extLst>
          </p:cNvPr>
          <p:cNvSpPr txBox="1"/>
          <p:nvPr/>
        </p:nvSpPr>
        <p:spPr>
          <a:xfrm>
            <a:off x="1629512" y="4463022"/>
            <a:ext cx="586154" cy="369332"/>
          </a:xfrm>
          <a:prstGeom prst="rect">
            <a:avLst/>
          </a:prstGeom>
          <a:noFill/>
        </p:spPr>
        <p:txBody>
          <a:bodyPr wrap="square" rtlCol="0">
            <a:spAutoFit/>
          </a:bodyPr>
          <a:lstStyle/>
          <a:p>
            <a:r>
              <a:rPr lang="en-US" dirty="0"/>
              <a:t>1b.</a:t>
            </a:r>
          </a:p>
        </p:txBody>
      </p:sp>
      <p:sp>
        <p:nvSpPr>
          <p:cNvPr id="9" name="TextBox 8">
            <a:extLst>
              <a:ext uri="{FF2B5EF4-FFF2-40B4-BE49-F238E27FC236}">
                <a16:creationId xmlns:a16="http://schemas.microsoft.com/office/drawing/2014/main" id="{0C405B77-B2CF-9E12-39D4-79D68DD07E5F}"/>
              </a:ext>
            </a:extLst>
          </p:cNvPr>
          <p:cNvSpPr txBox="1"/>
          <p:nvPr/>
        </p:nvSpPr>
        <p:spPr>
          <a:xfrm>
            <a:off x="1664678" y="4915763"/>
            <a:ext cx="586154" cy="369332"/>
          </a:xfrm>
          <a:prstGeom prst="rect">
            <a:avLst/>
          </a:prstGeom>
          <a:noFill/>
        </p:spPr>
        <p:txBody>
          <a:bodyPr wrap="square" rtlCol="0">
            <a:spAutoFit/>
          </a:bodyPr>
          <a:lstStyle/>
          <a:p>
            <a:r>
              <a:rPr lang="en-US" dirty="0"/>
              <a:t>1c.</a:t>
            </a:r>
          </a:p>
        </p:txBody>
      </p:sp>
      <p:pic>
        <p:nvPicPr>
          <p:cNvPr id="5" name="Picture 4">
            <a:extLst>
              <a:ext uri="{FF2B5EF4-FFF2-40B4-BE49-F238E27FC236}">
                <a16:creationId xmlns:a16="http://schemas.microsoft.com/office/drawing/2014/main" id="{52B4BDB9-17F7-E75F-E912-C2D40F3D9400}"/>
              </a:ext>
            </a:extLst>
          </p:cNvPr>
          <p:cNvPicPr>
            <a:picLocks noChangeAspect="1"/>
          </p:cNvPicPr>
          <p:nvPr/>
        </p:nvPicPr>
        <p:blipFill>
          <a:blip r:embed="rId3"/>
          <a:stretch>
            <a:fillRect/>
          </a:stretch>
        </p:blipFill>
        <p:spPr>
          <a:xfrm>
            <a:off x="2085105" y="3294262"/>
            <a:ext cx="8021790" cy="3062865"/>
          </a:xfrm>
          <a:prstGeom prst="rect">
            <a:avLst/>
          </a:prstGeom>
        </p:spPr>
      </p:pic>
      <p:sp>
        <p:nvSpPr>
          <p:cNvPr id="10" name="TextBox 9">
            <a:extLst>
              <a:ext uri="{FF2B5EF4-FFF2-40B4-BE49-F238E27FC236}">
                <a16:creationId xmlns:a16="http://schemas.microsoft.com/office/drawing/2014/main" id="{FCEBC119-702C-FD5C-B657-43A4A35C7209}"/>
              </a:ext>
            </a:extLst>
          </p:cNvPr>
          <p:cNvSpPr txBox="1"/>
          <p:nvPr/>
        </p:nvSpPr>
        <p:spPr>
          <a:xfrm>
            <a:off x="1664678" y="5556289"/>
            <a:ext cx="586154" cy="369332"/>
          </a:xfrm>
          <a:prstGeom prst="rect">
            <a:avLst/>
          </a:prstGeom>
          <a:noFill/>
        </p:spPr>
        <p:txBody>
          <a:bodyPr wrap="square" rtlCol="0">
            <a:spAutoFit/>
          </a:bodyPr>
          <a:lstStyle/>
          <a:p>
            <a:r>
              <a:rPr lang="en-US" dirty="0"/>
              <a:t>1d.</a:t>
            </a:r>
          </a:p>
        </p:txBody>
      </p:sp>
    </p:spTree>
    <p:extLst>
      <p:ext uri="{BB962C8B-B14F-4D97-AF65-F5344CB8AC3E}">
        <p14:creationId xmlns:p14="http://schemas.microsoft.com/office/powerpoint/2010/main" val="2580701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B69C6-32A3-557B-0D12-81B5C6933B40}"/>
              </a:ext>
            </a:extLst>
          </p:cNvPr>
          <p:cNvSpPr>
            <a:spLocks noGrp="1"/>
          </p:cNvSpPr>
          <p:nvPr>
            <p:ph type="title"/>
          </p:nvPr>
        </p:nvSpPr>
        <p:spPr/>
        <p:txBody>
          <a:bodyPr/>
          <a:lstStyle/>
          <a:p>
            <a:r>
              <a:rPr lang="en-US" dirty="0"/>
              <a:t>Challenge</a:t>
            </a:r>
          </a:p>
        </p:txBody>
      </p:sp>
      <p:sp>
        <p:nvSpPr>
          <p:cNvPr id="3" name="Content Placeholder 2">
            <a:extLst>
              <a:ext uri="{FF2B5EF4-FFF2-40B4-BE49-F238E27FC236}">
                <a16:creationId xmlns:a16="http://schemas.microsoft.com/office/drawing/2014/main" id="{007B9398-005E-E891-AE59-8EC78E6F6363}"/>
              </a:ext>
            </a:extLst>
          </p:cNvPr>
          <p:cNvSpPr>
            <a:spLocks noGrp="1"/>
          </p:cNvSpPr>
          <p:nvPr>
            <p:ph idx="12"/>
          </p:nvPr>
        </p:nvSpPr>
        <p:spPr/>
        <p:txBody>
          <a:bodyPr>
            <a:normAutofit fontScale="77500" lnSpcReduction="20000"/>
          </a:bodyPr>
          <a:lstStyle/>
          <a:p>
            <a:r>
              <a:rPr lang="en-US" dirty="0"/>
              <a:t>Get assigned one of the Python IDE’s </a:t>
            </a:r>
          </a:p>
          <a:p>
            <a:r>
              <a:rPr lang="en-US" dirty="0"/>
              <a:t>Create a 2 minute showcase of how to open a source code file</a:t>
            </a:r>
          </a:p>
          <a:p>
            <a:pPr lvl="1"/>
            <a:r>
              <a:rPr lang="en-US" dirty="0"/>
              <a:t>Show users where the editor window is versus where the console/shell is located within the IDE</a:t>
            </a:r>
          </a:p>
          <a:p>
            <a:pPr lvl="1"/>
            <a:r>
              <a:rPr lang="en-US" dirty="0"/>
              <a:t>Run/compile the program with a purposeful error included</a:t>
            </a:r>
          </a:p>
          <a:p>
            <a:pPr lvl="1"/>
            <a:r>
              <a:rPr lang="en-US" dirty="0"/>
              <a:t>Show where users can view the error</a:t>
            </a:r>
          </a:p>
          <a:p>
            <a:pPr lvl="1"/>
            <a:r>
              <a:rPr lang="en-US" dirty="0"/>
              <a:t>Show how to fix it, rerun the program</a:t>
            </a:r>
          </a:p>
          <a:p>
            <a:pPr lvl="1"/>
            <a:r>
              <a:rPr lang="en-US" dirty="0"/>
              <a:t>Save the successful program</a:t>
            </a:r>
          </a:p>
          <a:p>
            <a:r>
              <a:rPr lang="en-US" dirty="0"/>
              <a:t>Turn in source code and link for users to download and install</a:t>
            </a:r>
          </a:p>
        </p:txBody>
      </p:sp>
      <p:sp>
        <p:nvSpPr>
          <p:cNvPr id="4" name="Content Placeholder 3">
            <a:extLst>
              <a:ext uri="{FF2B5EF4-FFF2-40B4-BE49-F238E27FC236}">
                <a16:creationId xmlns:a16="http://schemas.microsoft.com/office/drawing/2014/main" id="{2651D749-F165-258E-F9FA-4302651E0686}"/>
              </a:ext>
            </a:extLst>
          </p:cNvPr>
          <p:cNvSpPr>
            <a:spLocks noGrp="1"/>
          </p:cNvSpPr>
          <p:nvPr>
            <p:ph idx="11"/>
          </p:nvPr>
        </p:nvSpPr>
        <p:spPr/>
        <p:txBody>
          <a:bodyPr>
            <a:normAutofit fontScale="92500" lnSpcReduction="20000"/>
          </a:bodyPr>
          <a:lstStyle/>
          <a:p>
            <a:r>
              <a:rPr lang="en-US" dirty="0"/>
              <a:t>List of IDE’s:</a:t>
            </a:r>
          </a:p>
          <a:p>
            <a:pPr marL="342900" indent="-342900">
              <a:buFontTx/>
              <a:buChar char="-"/>
            </a:pPr>
            <a:r>
              <a:rPr lang="en-US" dirty="0"/>
              <a:t>Spyder</a:t>
            </a:r>
          </a:p>
          <a:p>
            <a:pPr marL="342900" indent="-342900">
              <a:buFontTx/>
              <a:buChar char="-"/>
            </a:pPr>
            <a:r>
              <a:rPr lang="en-US" dirty="0"/>
              <a:t>PyCharm</a:t>
            </a:r>
          </a:p>
          <a:p>
            <a:pPr marL="342900" indent="-342900">
              <a:buFontTx/>
              <a:buChar char="-"/>
            </a:pPr>
            <a:r>
              <a:rPr lang="en-US" dirty="0"/>
              <a:t>Visual Studio Code</a:t>
            </a:r>
          </a:p>
          <a:p>
            <a:pPr marL="342900" indent="-342900">
              <a:buFontTx/>
              <a:buChar char="-"/>
            </a:pPr>
            <a:r>
              <a:rPr lang="en-US" dirty="0"/>
              <a:t>Thonny</a:t>
            </a:r>
          </a:p>
          <a:p>
            <a:r>
              <a:rPr lang="en-US" dirty="0"/>
              <a:t>Next session, first 5 minutes will be used to pair students. Each student will show the other student their assigned IDE and walk through each step with them. (“Show your partner around”)</a:t>
            </a:r>
          </a:p>
          <a:p>
            <a:r>
              <a:rPr lang="en-US" dirty="0"/>
              <a:t>We will rotate until each member has had a chance to each IDE. </a:t>
            </a:r>
          </a:p>
        </p:txBody>
      </p:sp>
    </p:spTree>
    <p:extLst>
      <p:ext uri="{BB962C8B-B14F-4D97-AF65-F5344CB8AC3E}">
        <p14:creationId xmlns:p14="http://schemas.microsoft.com/office/powerpoint/2010/main" val="2390905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47E57-14DF-BC85-7D19-BB0006A37665}"/>
              </a:ext>
            </a:extLst>
          </p:cNvPr>
          <p:cNvSpPr>
            <a:spLocks noGrp="1"/>
          </p:cNvSpPr>
          <p:nvPr>
            <p:ph type="title"/>
          </p:nvPr>
        </p:nvSpPr>
        <p:spPr/>
        <p:txBody>
          <a:bodyPr/>
          <a:lstStyle/>
          <a:p>
            <a:r>
              <a:rPr lang="en-US" dirty="0"/>
              <a:t>What to expect for upcoming session</a:t>
            </a:r>
          </a:p>
        </p:txBody>
      </p:sp>
      <p:sp>
        <p:nvSpPr>
          <p:cNvPr id="3" name="Content Placeholder 2">
            <a:extLst>
              <a:ext uri="{FF2B5EF4-FFF2-40B4-BE49-F238E27FC236}">
                <a16:creationId xmlns:a16="http://schemas.microsoft.com/office/drawing/2014/main" id="{230304A6-AAB6-B3C8-BBB8-864E9A022C2C}"/>
              </a:ext>
            </a:extLst>
          </p:cNvPr>
          <p:cNvSpPr>
            <a:spLocks noGrp="1"/>
          </p:cNvSpPr>
          <p:nvPr>
            <p:ph idx="1"/>
          </p:nvPr>
        </p:nvSpPr>
        <p:spPr>
          <a:xfrm>
            <a:off x="1167493" y="2084832"/>
            <a:ext cx="9779182" cy="4491814"/>
          </a:xfrm>
        </p:spPr>
        <p:txBody>
          <a:bodyPr/>
          <a:lstStyle/>
          <a:p>
            <a:pPr marL="457200" indent="-457200">
              <a:buFontTx/>
              <a:buChar char="-"/>
            </a:pPr>
            <a:r>
              <a:rPr lang="en-US" dirty="0"/>
              <a:t>Learn how to write your first programs</a:t>
            </a:r>
          </a:p>
          <a:p>
            <a:pPr marL="914400" lvl="1" indent="-457200">
              <a:buFontTx/>
              <a:buChar char="-"/>
            </a:pPr>
            <a:r>
              <a:rPr lang="en-US" dirty="0"/>
              <a:t>Statements, comments, functions</a:t>
            </a:r>
          </a:p>
          <a:p>
            <a:pPr marL="914400" lvl="1" indent="-457200">
              <a:buFontTx/>
              <a:buChar char="-"/>
            </a:pPr>
            <a:r>
              <a:rPr lang="en-US" dirty="0"/>
              <a:t>Assign values to variables</a:t>
            </a:r>
          </a:p>
          <a:p>
            <a:pPr marL="914400" lvl="1" indent="-457200">
              <a:buFontTx/>
              <a:buChar char="-"/>
            </a:pPr>
            <a:r>
              <a:rPr lang="en-US" dirty="0"/>
              <a:t>Name variables</a:t>
            </a:r>
          </a:p>
          <a:p>
            <a:pPr marL="914400" lvl="1" indent="-457200">
              <a:buFontTx/>
              <a:buChar char="-"/>
            </a:pPr>
            <a:r>
              <a:rPr lang="en-US" dirty="0"/>
              <a:t>Code arithmetic expressions</a:t>
            </a:r>
          </a:p>
          <a:p>
            <a:pPr marL="914400" lvl="1" indent="-457200">
              <a:buFontTx/>
              <a:buChar char="-"/>
            </a:pPr>
            <a:r>
              <a:rPr lang="en-US" dirty="0"/>
              <a:t>Assignment in statements</a:t>
            </a:r>
          </a:p>
          <a:p>
            <a:pPr marL="914400" lvl="1" indent="-457200">
              <a:buFontTx/>
              <a:buChar char="-"/>
            </a:pPr>
            <a:r>
              <a:rPr lang="en-US" dirty="0"/>
              <a:t>String data, assign strings, join strings, include special characters in strings</a:t>
            </a:r>
          </a:p>
          <a:p>
            <a:pPr marL="914400" lvl="1" indent="-457200">
              <a:buFontTx/>
              <a:buChar char="-"/>
            </a:pPr>
            <a:r>
              <a:rPr lang="en-US" dirty="0"/>
              <a:t>Print() function, input() function, int(), float(), round(), chain functions</a:t>
            </a:r>
          </a:p>
          <a:p>
            <a:pPr marL="914400" lvl="1" indent="-457200">
              <a:buFontTx/>
              <a:buChar char="-"/>
            </a:pPr>
            <a:r>
              <a:rPr lang="en-US" dirty="0"/>
              <a:t>Introduction to illustrative programs</a:t>
            </a:r>
          </a:p>
        </p:txBody>
      </p:sp>
    </p:spTree>
    <p:extLst>
      <p:ext uri="{BB962C8B-B14F-4D97-AF65-F5344CB8AC3E}">
        <p14:creationId xmlns:p14="http://schemas.microsoft.com/office/powerpoint/2010/main" val="913681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dirty="0"/>
              <a:t>Thank you</a:t>
            </a:r>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1167493" y="3685939"/>
            <a:ext cx="6220277" cy="2919512"/>
          </a:xfrm>
        </p:spPr>
        <p:txBody>
          <a:bodyPr/>
          <a:lstStyle/>
          <a:p>
            <a:r>
              <a:rPr lang="en-US" dirty="0"/>
              <a:t>Shyla Solis</a:t>
            </a:r>
          </a:p>
          <a:p>
            <a:r>
              <a:rPr lang="en-US" dirty="0"/>
              <a:t>209-9862918</a:t>
            </a:r>
          </a:p>
          <a:p>
            <a:r>
              <a:rPr lang="en-US" dirty="0"/>
              <a:t>ssolis1@pacific.edu</a:t>
            </a:r>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2.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{7551F8D0-EAB4-49E6-8CDE-5EA20647E434}tf45331398_win32</Template>
  <TotalTime>1797</TotalTime>
  <Words>1624</Words>
  <Application>Microsoft Office PowerPoint</Application>
  <PresentationFormat>Widescreen</PresentationFormat>
  <Paragraphs>189</Paragraphs>
  <Slides>34</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Google Sans</vt:lpstr>
      <vt:lpstr>Tenorite</vt:lpstr>
      <vt:lpstr>Custom</vt:lpstr>
      <vt:lpstr>Explore IDE’s &amp; File Handling</vt:lpstr>
      <vt:lpstr>Integrated Development Environments (IDE)</vt:lpstr>
      <vt:lpstr>Agenda</vt:lpstr>
      <vt:lpstr>Intro to IDLE</vt:lpstr>
      <vt:lpstr>IDLE</vt:lpstr>
      <vt:lpstr>How to use the interactive shell </vt:lpstr>
      <vt:lpstr>How to use the interactive shell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Use the interactive shell to work with source files</vt:lpstr>
      <vt:lpstr>Train your motors kills</vt:lpstr>
      <vt:lpstr>Working with the IDLE and a source file/ source code</vt:lpstr>
      <vt:lpstr>PowerPoint Presentation</vt:lpstr>
      <vt:lpstr>The Editor</vt:lpstr>
      <vt:lpstr>Compile and run a program</vt:lpstr>
      <vt:lpstr>Fix syntax &amp; runtime errors</vt:lpstr>
      <vt:lpstr>Fix syntax &amp; runtime errors</vt:lpstr>
      <vt:lpstr>Final tips &amp; takeaways</vt:lpstr>
      <vt:lpstr>Begin in class exercises!</vt:lpstr>
      <vt:lpstr>Experiment with IDLE’s interactive shell</vt:lpstr>
      <vt:lpstr>Experiment with IDLE’s interactive shell</vt:lpstr>
      <vt:lpstr>Experiment with IDLE’s interactive shell</vt:lpstr>
      <vt:lpstr>Experiment with IDLE’s interactive shell</vt:lpstr>
      <vt:lpstr>Experiment with IDLE’s interactive shell</vt:lpstr>
      <vt:lpstr>Experiment with IDLE’s interactive shell</vt:lpstr>
      <vt:lpstr>Experiment with IDLE’s interactive shell</vt:lpstr>
      <vt:lpstr>Challenge</vt:lpstr>
      <vt:lpstr>What to expect for upcoming session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Shyla Solis</dc:creator>
  <cp:lastModifiedBy>Shyla Solis</cp:lastModifiedBy>
  <cp:revision>1</cp:revision>
  <dcterms:created xsi:type="dcterms:W3CDTF">2025-05-26T17:40:46Z</dcterms:created>
  <dcterms:modified xsi:type="dcterms:W3CDTF">2025-05-27T23:38:07Z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